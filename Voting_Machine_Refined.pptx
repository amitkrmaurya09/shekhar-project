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3353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399884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5769599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4207152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473795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815501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445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32017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6913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599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600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4647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491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6942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1697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2411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3376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729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209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1303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26831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177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6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3008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9087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3605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4091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704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906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4182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666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2127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9648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2523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3217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7540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090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5447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5585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9697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905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6107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349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379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71568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499769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92416226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PRESENTATION OUTLINE</a:t>
            </a:r>
            <a:endParaRPr lang="en-US" sz="1400"/>
          </a:p>
        </p:txBody>
      </p:sp>
      <p:sp>
        <p:nvSpPr>
          <p:cNvPr id="1028192821" name="Text 2"/>
          <p:cNvSpPr/>
          <p:nvPr/>
        </p:nvSpPr>
        <p:spPr bwMode="auto"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We'll Cover</a:t>
            </a:r>
            <a:endParaRPr lang="en-US" sz="2200"/>
          </a:p>
        </p:txBody>
      </p:sp>
      <p:sp>
        <p:nvSpPr>
          <p:cNvPr id="170694494" name="Shape 3"/>
          <p:cNvSpPr/>
          <p:nvPr/>
        </p:nvSpPr>
        <p:spPr bwMode="auto">
          <a:xfrm>
            <a:off x="274320" y="1280160"/>
            <a:ext cx="420624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04930076" name="Shape 4"/>
          <p:cNvSpPr/>
          <p:nvPr/>
        </p:nvSpPr>
        <p:spPr bwMode="auto">
          <a:xfrm>
            <a:off x="274320" y="1280160"/>
            <a:ext cx="457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53140979" name="Text 5"/>
          <p:cNvSpPr/>
          <p:nvPr/>
        </p:nvSpPr>
        <p:spPr bwMode="auto">
          <a:xfrm>
            <a:off x="274320" y="1280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100"/>
          </a:p>
        </p:txBody>
      </p:sp>
      <p:pic>
        <p:nvPicPr>
          <p:cNvPr id="126633746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7240" y="1389888"/>
            <a:ext cx="365760" cy="365760"/>
          </a:xfrm>
          <a:prstGeom prst="rect">
            <a:avLst/>
          </a:prstGeom>
        </p:spPr>
      </p:pic>
      <p:sp>
        <p:nvSpPr>
          <p:cNvPr id="114063198" name="Text 6"/>
          <p:cNvSpPr/>
          <p:nvPr/>
        </p:nvSpPr>
        <p:spPr bwMode="auto">
          <a:xfrm>
            <a:off x="1234440" y="12801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Introduction &amp; Background</a:t>
            </a:r>
            <a:endParaRPr lang="en-US" sz="1200"/>
          </a:p>
        </p:txBody>
      </p:sp>
      <p:sp>
        <p:nvSpPr>
          <p:cNvPr id="2131784874" name="Shape 7"/>
          <p:cNvSpPr/>
          <p:nvPr/>
        </p:nvSpPr>
        <p:spPr bwMode="auto">
          <a:xfrm>
            <a:off x="274320" y="1993392"/>
            <a:ext cx="420624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51826108" name="Shape 8"/>
          <p:cNvSpPr/>
          <p:nvPr/>
        </p:nvSpPr>
        <p:spPr bwMode="auto">
          <a:xfrm>
            <a:off x="274320" y="1993392"/>
            <a:ext cx="457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94130506" name="Text 9"/>
          <p:cNvSpPr/>
          <p:nvPr/>
        </p:nvSpPr>
        <p:spPr bwMode="auto">
          <a:xfrm>
            <a:off x="274320" y="199339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100"/>
          </a:p>
        </p:txBody>
      </p:sp>
      <p:pic>
        <p:nvPicPr>
          <p:cNvPr id="135386310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7240" y="2103120"/>
            <a:ext cx="365760" cy="365760"/>
          </a:xfrm>
          <a:prstGeom prst="rect">
            <a:avLst/>
          </a:prstGeom>
        </p:spPr>
      </p:pic>
      <p:sp>
        <p:nvSpPr>
          <p:cNvPr id="980242594" name="Text 10"/>
          <p:cNvSpPr/>
          <p:nvPr/>
        </p:nvSpPr>
        <p:spPr bwMode="auto">
          <a:xfrm>
            <a:off x="1234440" y="19933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Objectives &amp; Scope</a:t>
            </a:r>
            <a:endParaRPr lang="en-US" sz="1200"/>
          </a:p>
        </p:txBody>
      </p:sp>
      <p:sp>
        <p:nvSpPr>
          <p:cNvPr id="479242001" name="Shape 11"/>
          <p:cNvSpPr/>
          <p:nvPr/>
        </p:nvSpPr>
        <p:spPr bwMode="auto">
          <a:xfrm>
            <a:off x="274320" y="2706624"/>
            <a:ext cx="420624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109240537" name="Shape 12"/>
          <p:cNvSpPr/>
          <p:nvPr/>
        </p:nvSpPr>
        <p:spPr bwMode="auto">
          <a:xfrm>
            <a:off x="274320" y="2706624"/>
            <a:ext cx="457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8486415" name="Text 13"/>
          <p:cNvSpPr/>
          <p:nvPr/>
        </p:nvSpPr>
        <p:spPr bwMode="auto">
          <a:xfrm>
            <a:off x="274320" y="270662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100"/>
          </a:p>
        </p:txBody>
      </p:sp>
      <p:pic>
        <p:nvPicPr>
          <p:cNvPr id="214114029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77240" y="2816352"/>
            <a:ext cx="365760" cy="365760"/>
          </a:xfrm>
          <a:prstGeom prst="rect">
            <a:avLst/>
          </a:prstGeom>
        </p:spPr>
      </p:pic>
      <p:sp>
        <p:nvSpPr>
          <p:cNvPr id="470268762" name="Text 14"/>
          <p:cNvSpPr/>
          <p:nvPr/>
        </p:nvSpPr>
        <p:spPr bwMode="auto">
          <a:xfrm>
            <a:off x="1234440" y="270662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Literature Survey</a:t>
            </a:r>
            <a:endParaRPr lang="en-US" sz="1200"/>
          </a:p>
        </p:txBody>
      </p:sp>
      <p:sp>
        <p:nvSpPr>
          <p:cNvPr id="1325564152" name="Shape 15"/>
          <p:cNvSpPr/>
          <p:nvPr/>
        </p:nvSpPr>
        <p:spPr bwMode="auto">
          <a:xfrm>
            <a:off x="274320" y="3419856"/>
            <a:ext cx="420624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829154013" name="Shape 16"/>
          <p:cNvSpPr/>
          <p:nvPr/>
        </p:nvSpPr>
        <p:spPr bwMode="auto">
          <a:xfrm>
            <a:off x="274320" y="3419856"/>
            <a:ext cx="457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9001726" name="Text 17"/>
          <p:cNvSpPr/>
          <p:nvPr/>
        </p:nvSpPr>
        <p:spPr bwMode="auto">
          <a:xfrm>
            <a:off x="274320" y="341985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100"/>
          </a:p>
        </p:txBody>
      </p:sp>
      <p:pic>
        <p:nvPicPr>
          <p:cNvPr id="12935144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77240" y="3529584"/>
            <a:ext cx="365760" cy="365760"/>
          </a:xfrm>
          <a:prstGeom prst="rect">
            <a:avLst/>
          </a:prstGeom>
        </p:spPr>
      </p:pic>
      <p:sp>
        <p:nvSpPr>
          <p:cNvPr id="626253402" name="Text 18"/>
          <p:cNvSpPr/>
          <p:nvPr/>
        </p:nvSpPr>
        <p:spPr bwMode="auto">
          <a:xfrm>
            <a:off x="1234440" y="341985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 &amp; Proposed System</a:t>
            </a:r>
            <a:endParaRPr lang="en-US" sz="1200"/>
          </a:p>
        </p:txBody>
      </p:sp>
      <p:sp>
        <p:nvSpPr>
          <p:cNvPr id="2083865021" name="Shape 19"/>
          <p:cNvSpPr/>
          <p:nvPr/>
        </p:nvSpPr>
        <p:spPr bwMode="auto">
          <a:xfrm>
            <a:off x="274320" y="4133088"/>
            <a:ext cx="420624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51431641" name="Shape 20"/>
          <p:cNvSpPr/>
          <p:nvPr/>
        </p:nvSpPr>
        <p:spPr bwMode="auto">
          <a:xfrm>
            <a:off x="274320" y="4133088"/>
            <a:ext cx="457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108007" name="Text 21"/>
          <p:cNvSpPr/>
          <p:nvPr/>
        </p:nvSpPr>
        <p:spPr bwMode="auto">
          <a:xfrm>
            <a:off x="274320" y="41330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100"/>
          </a:p>
        </p:txBody>
      </p:sp>
      <p:pic>
        <p:nvPicPr>
          <p:cNvPr id="344817295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77240" y="4242816"/>
            <a:ext cx="365760" cy="365760"/>
          </a:xfrm>
          <a:prstGeom prst="rect">
            <a:avLst/>
          </a:prstGeom>
        </p:spPr>
      </p:pic>
      <p:sp>
        <p:nvSpPr>
          <p:cNvPr id="6854464" name="Text 22"/>
          <p:cNvSpPr/>
          <p:nvPr/>
        </p:nvSpPr>
        <p:spPr bwMode="auto">
          <a:xfrm>
            <a:off x="1234440" y="413308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&amp; Implementation</a:t>
            </a:r>
            <a:endParaRPr lang="en-US" sz="1200"/>
          </a:p>
        </p:txBody>
      </p:sp>
      <p:sp>
        <p:nvSpPr>
          <p:cNvPr id="288221625" name="Shape 23"/>
          <p:cNvSpPr/>
          <p:nvPr/>
        </p:nvSpPr>
        <p:spPr bwMode="auto">
          <a:xfrm>
            <a:off x="4754880" y="1280160"/>
            <a:ext cx="420624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95618208" name="Shape 24"/>
          <p:cNvSpPr/>
          <p:nvPr/>
        </p:nvSpPr>
        <p:spPr bwMode="auto">
          <a:xfrm>
            <a:off x="4754880" y="1280160"/>
            <a:ext cx="457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46619814" name="Text 25"/>
          <p:cNvSpPr/>
          <p:nvPr/>
        </p:nvSpPr>
        <p:spPr bwMode="auto">
          <a:xfrm>
            <a:off x="4754880" y="1280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100"/>
          </a:p>
        </p:txBody>
      </p:sp>
      <p:pic>
        <p:nvPicPr>
          <p:cNvPr id="1003799917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257800" y="1389888"/>
            <a:ext cx="365760" cy="365760"/>
          </a:xfrm>
          <a:prstGeom prst="rect">
            <a:avLst/>
          </a:prstGeom>
        </p:spPr>
      </p:pic>
      <p:sp>
        <p:nvSpPr>
          <p:cNvPr id="936362161" name="Text 26"/>
          <p:cNvSpPr/>
          <p:nvPr/>
        </p:nvSpPr>
        <p:spPr bwMode="auto">
          <a:xfrm>
            <a:off x="5715000" y="12801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Hardware / Software Requirements</a:t>
            </a:r>
            <a:endParaRPr lang="en-US" sz="1200"/>
          </a:p>
        </p:txBody>
      </p:sp>
      <p:sp>
        <p:nvSpPr>
          <p:cNvPr id="407401521" name="Shape 27"/>
          <p:cNvSpPr/>
          <p:nvPr/>
        </p:nvSpPr>
        <p:spPr bwMode="auto">
          <a:xfrm>
            <a:off x="4754880" y="1993392"/>
            <a:ext cx="420624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61982887" name="Shape 28"/>
          <p:cNvSpPr/>
          <p:nvPr/>
        </p:nvSpPr>
        <p:spPr bwMode="auto">
          <a:xfrm>
            <a:off x="4754880" y="1993392"/>
            <a:ext cx="457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80209369" name="Text 29"/>
          <p:cNvSpPr/>
          <p:nvPr/>
        </p:nvSpPr>
        <p:spPr bwMode="auto">
          <a:xfrm>
            <a:off x="4754880" y="199339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100"/>
          </a:p>
        </p:txBody>
      </p:sp>
      <p:pic>
        <p:nvPicPr>
          <p:cNvPr id="1719011555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5257800" y="2103120"/>
            <a:ext cx="365760" cy="365760"/>
          </a:xfrm>
          <a:prstGeom prst="rect">
            <a:avLst/>
          </a:prstGeom>
        </p:spPr>
      </p:pic>
      <p:sp>
        <p:nvSpPr>
          <p:cNvPr id="1206779398" name="Text 30"/>
          <p:cNvSpPr/>
          <p:nvPr/>
        </p:nvSpPr>
        <p:spPr bwMode="auto">
          <a:xfrm>
            <a:off x="5715000" y="19933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Flow Diagram</a:t>
            </a:r>
            <a:endParaRPr lang="en-US" sz="1200"/>
          </a:p>
        </p:txBody>
      </p:sp>
      <p:sp>
        <p:nvSpPr>
          <p:cNvPr id="853784557" name="Shape 31"/>
          <p:cNvSpPr/>
          <p:nvPr/>
        </p:nvSpPr>
        <p:spPr bwMode="auto">
          <a:xfrm>
            <a:off x="4754880" y="2706624"/>
            <a:ext cx="420624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05314057" name="Shape 32"/>
          <p:cNvSpPr/>
          <p:nvPr/>
        </p:nvSpPr>
        <p:spPr bwMode="auto">
          <a:xfrm>
            <a:off x="4754880" y="2706624"/>
            <a:ext cx="457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67129225" name="Text 33"/>
          <p:cNvSpPr/>
          <p:nvPr/>
        </p:nvSpPr>
        <p:spPr bwMode="auto">
          <a:xfrm>
            <a:off x="4754880" y="270662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100"/>
          </a:p>
        </p:txBody>
      </p:sp>
      <p:pic>
        <p:nvPicPr>
          <p:cNvPr id="37812809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5257800" y="2816352"/>
            <a:ext cx="365760" cy="365760"/>
          </a:xfrm>
          <a:prstGeom prst="rect">
            <a:avLst/>
          </a:prstGeom>
        </p:spPr>
      </p:pic>
      <p:sp>
        <p:nvSpPr>
          <p:cNvPr id="192828189" name="Text 34"/>
          <p:cNvSpPr/>
          <p:nvPr/>
        </p:nvSpPr>
        <p:spPr bwMode="auto">
          <a:xfrm>
            <a:off x="5715000" y="270662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&amp; Discussion</a:t>
            </a:r>
            <a:endParaRPr lang="en-US" sz="1200"/>
          </a:p>
        </p:txBody>
      </p:sp>
      <p:sp>
        <p:nvSpPr>
          <p:cNvPr id="1663832812" name="Shape 35"/>
          <p:cNvSpPr/>
          <p:nvPr/>
        </p:nvSpPr>
        <p:spPr bwMode="auto">
          <a:xfrm>
            <a:off x="4754880" y="3419856"/>
            <a:ext cx="420624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9240655" name="Shape 36"/>
          <p:cNvSpPr/>
          <p:nvPr/>
        </p:nvSpPr>
        <p:spPr bwMode="auto">
          <a:xfrm>
            <a:off x="4754880" y="3419856"/>
            <a:ext cx="457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78066300" name="Text 37"/>
          <p:cNvSpPr/>
          <p:nvPr/>
        </p:nvSpPr>
        <p:spPr bwMode="auto">
          <a:xfrm>
            <a:off x="4754880" y="341985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  <a:endParaRPr lang="en-US" sz="1100"/>
          </a:p>
        </p:txBody>
      </p:sp>
      <p:pic>
        <p:nvPicPr>
          <p:cNvPr id="1835501938" name="Image 8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5257800" y="3529584"/>
            <a:ext cx="365760" cy="365760"/>
          </a:xfrm>
          <a:prstGeom prst="rect">
            <a:avLst/>
          </a:prstGeom>
        </p:spPr>
      </p:pic>
      <p:sp>
        <p:nvSpPr>
          <p:cNvPr id="1289761450" name="Text 38"/>
          <p:cNvSpPr/>
          <p:nvPr/>
        </p:nvSpPr>
        <p:spPr bwMode="auto">
          <a:xfrm>
            <a:off x="5715000" y="341985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 &amp; Future Work</a:t>
            </a:r>
            <a:endParaRPr lang="en-US" sz="1200"/>
          </a:p>
        </p:txBody>
      </p:sp>
      <p:sp>
        <p:nvSpPr>
          <p:cNvPr id="82627312" name="Shape 39"/>
          <p:cNvSpPr/>
          <p:nvPr/>
        </p:nvSpPr>
        <p:spPr bwMode="auto">
          <a:xfrm>
            <a:off x="4754880" y="4133088"/>
            <a:ext cx="420624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01535331" name="Shape 40"/>
          <p:cNvSpPr/>
          <p:nvPr/>
        </p:nvSpPr>
        <p:spPr bwMode="auto">
          <a:xfrm>
            <a:off x="4754880" y="4133088"/>
            <a:ext cx="457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85766468" name="Text 41"/>
          <p:cNvSpPr/>
          <p:nvPr/>
        </p:nvSpPr>
        <p:spPr bwMode="auto">
          <a:xfrm>
            <a:off x="4754880" y="41330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100"/>
          </a:p>
        </p:txBody>
      </p:sp>
      <p:pic>
        <p:nvPicPr>
          <p:cNvPr id="1792429512" name="Image 9" descr="preencoded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5257800" y="4242816"/>
            <a:ext cx="365760" cy="365760"/>
          </a:xfrm>
          <a:prstGeom prst="rect">
            <a:avLst/>
          </a:prstGeom>
        </p:spPr>
      </p:pic>
      <p:sp>
        <p:nvSpPr>
          <p:cNvPr id="663948869" name="Text 42"/>
          <p:cNvSpPr/>
          <p:nvPr/>
        </p:nvSpPr>
        <p:spPr bwMode="auto">
          <a:xfrm>
            <a:off x="5715000" y="413308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 &amp; References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0F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653280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32218957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INTRODUCTION &amp; BACKGROUND</a:t>
            </a:r>
            <a:endParaRPr lang="en-US" sz="1400"/>
          </a:p>
        </p:txBody>
      </p:sp>
      <p:sp>
        <p:nvSpPr>
          <p:cNvPr id="490773989" name="Text 2"/>
          <p:cNvSpPr/>
          <p:nvPr/>
        </p:nvSpPr>
        <p:spPr bwMode="auto"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Understanding Electronic Voting Machines</a:t>
            </a:r>
            <a:endParaRPr lang="en-US" sz="2000"/>
          </a:p>
        </p:txBody>
      </p:sp>
      <p:sp>
        <p:nvSpPr>
          <p:cNvPr id="660991089" name="Shape 3"/>
          <p:cNvSpPr/>
          <p:nvPr/>
        </p:nvSpPr>
        <p:spPr bwMode="auto">
          <a:xfrm>
            <a:off x="274320" y="118872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90654364" name="Shape 4"/>
          <p:cNvSpPr/>
          <p:nvPr/>
        </p:nvSpPr>
        <p:spPr bwMode="auto">
          <a:xfrm>
            <a:off x="274320" y="1188720"/>
            <a:ext cx="20116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2866467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7472" y="1261872"/>
            <a:ext cx="347472" cy="347472"/>
          </a:xfrm>
          <a:prstGeom prst="rect">
            <a:avLst/>
          </a:prstGeom>
        </p:spPr>
      </p:pic>
      <p:sp>
        <p:nvSpPr>
          <p:cNvPr id="1214867289" name="Text 5"/>
          <p:cNvSpPr/>
          <p:nvPr/>
        </p:nvSpPr>
        <p:spPr bwMode="auto">
          <a:xfrm>
            <a:off x="731520" y="1188720"/>
            <a:ext cx="1508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Definition of EVM</a:t>
            </a:r>
            <a:endParaRPr lang="en-US" sz="1100"/>
          </a:p>
        </p:txBody>
      </p:sp>
      <p:sp>
        <p:nvSpPr>
          <p:cNvPr id="1760876381" name="Text 6"/>
          <p:cNvSpPr/>
          <p:nvPr/>
        </p:nvSpPr>
        <p:spPr bwMode="auto">
          <a:xfrm>
            <a:off x="384048" y="182880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An Electronic Voting Machine records votes electronically, eliminating paper ballots and manual counting.</a:t>
            </a:r>
            <a:endParaRPr lang="en-US" sz="1200"/>
          </a:p>
        </p:txBody>
      </p:sp>
      <p:sp>
        <p:nvSpPr>
          <p:cNvPr id="1274722305" name="Shape 7"/>
          <p:cNvSpPr/>
          <p:nvPr/>
        </p:nvSpPr>
        <p:spPr bwMode="auto">
          <a:xfrm>
            <a:off x="2450592" y="118872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35772033" name="Shape 8"/>
          <p:cNvSpPr/>
          <p:nvPr/>
        </p:nvSpPr>
        <p:spPr bwMode="auto">
          <a:xfrm>
            <a:off x="2450592" y="1188720"/>
            <a:ext cx="201168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58124482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23744" y="1261872"/>
            <a:ext cx="347472" cy="347472"/>
          </a:xfrm>
          <a:prstGeom prst="rect">
            <a:avLst/>
          </a:prstGeom>
        </p:spPr>
      </p:pic>
      <p:sp>
        <p:nvSpPr>
          <p:cNvPr id="1455337649" name="Text 9"/>
          <p:cNvSpPr/>
          <p:nvPr/>
        </p:nvSpPr>
        <p:spPr bwMode="auto">
          <a:xfrm>
            <a:off x="2907792" y="1188720"/>
            <a:ext cx="1508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Purpose of the Project</a:t>
            </a:r>
            <a:endParaRPr lang="en-US" sz="1100"/>
          </a:p>
        </p:txBody>
      </p:sp>
      <p:sp>
        <p:nvSpPr>
          <p:cNvPr id="1799620816" name="Text 10"/>
          <p:cNvSpPr/>
          <p:nvPr/>
        </p:nvSpPr>
        <p:spPr bwMode="auto">
          <a:xfrm>
            <a:off x="2560320" y="182880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Design a simple, secure voting system using Python programming and SQL database concepts.</a:t>
            </a:r>
            <a:endParaRPr lang="en-US" sz="1200"/>
          </a:p>
        </p:txBody>
      </p:sp>
      <p:sp>
        <p:nvSpPr>
          <p:cNvPr id="1647854244" name="Shape 11"/>
          <p:cNvSpPr/>
          <p:nvPr/>
        </p:nvSpPr>
        <p:spPr bwMode="auto">
          <a:xfrm>
            <a:off x="4626864" y="118872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31870474" name="Shape 12"/>
          <p:cNvSpPr/>
          <p:nvPr/>
        </p:nvSpPr>
        <p:spPr bwMode="auto">
          <a:xfrm>
            <a:off x="4626864" y="1188720"/>
            <a:ext cx="2011680" cy="5029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pic>
        <p:nvPicPr>
          <p:cNvPr id="134036601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700016" y="1261872"/>
            <a:ext cx="347472" cy="347472"/>
          </a:xfrm>
          <a:prstGeom prst="rect">
            <a:avLst/>
          </a:prstGeom>
        </p:spPr>
      </p:pic>
      <p:sp>
        <p:nvSpPr>
          <p:cNvPr id="441478339" name="Text 13"/>
          <p:cNvSpPr/>
          <p:nvPr/>
        </p:nvSpPr>
        <p:spPr bwMode="auto">
          <a:xfrm>
            <a:off x="5084064" y="1188720"/>
            <a:ext cx="1508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Technology Used</a:t>
            </a:r>
            <a:endParaRPr lang="en-US" sz="1100"/>
          </a:p>
        </p:txBody>
      </p:sp>
      <p:sp>
        <p:nvSpPr>
          <p:cNvPr id="2019129971" name="Text 14"/>
          <p:cNvSpPr/>
          <p:nvPr/>
        </p:nvSpPr>
        <p:spPr bwMode="auto">
          <a:xfrm>
            <a:off x="4736592" y="182880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Implemented in Python with SQLite/MySQL for persistent data storage and query execution.</a:t>
            </a:r>
            <a:endParaRPr lang="en-US" sz="1200"/>
          </a:p>
        </p:txBody>
      </p:sp>
      <p:sp>
        <p:nvSpPr>
          <p:cNvPr id="2036863720" name="Shape 15"/>
          <p:cNvSpPr/>
          <p:nvPr/>
        </p:nvSpPr>
        <p:spPr bwMode="auto">
          <a:xfrm>
            <a:off x="6803136" y="118872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04896357" name="Shape 16"/>
          <p:cNvSpPr/>
          <p:nvPr/>
        </p:nvSpPr>
        <p:spPr bwMode="auto">
          <a:xfrm>
            <a:off x="6803136" y="1188720"/>
            <a:ext cx="201168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31005584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876288" y="1261872"/>
            <a:ext cx="347472" cy="347472"/>
          </a:xfrm>
          <a:prstGeom prst="rect">
            <a:avLst/>
          </a:prstGeom>
        </p:spPr>
      </p:pic>
      <p:sp>
        <p:nvSpPr>
          <p:cNvPr id="811086599" name="Text 17"/>
          <p:cNvSpPr/>
          <p:nvPr/>
        </p:nvSpPr>
        <p:spPr bwMode="auto">
          <a:xfrm>
            <a:off x="7260336" y="1188720"/>
            <a:ext cx="1508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Features</a:t>
            </a:r>
            <a:endParaRPr lang="en-US" sz="1100"/>
          </a:p>
        </p:txBody>
      </p:sp>
      <p:sp>
        <p:nvSpPr>
          <p:cNvPr id="1188301473" name="Text 18"/>
          <p:cNvSpPr/>
          <p:nvPr/>
        </p:nvSpPr>
        <p:spPr bwMode="auto">
          <a:xfrm>
            <a:off x="6912864" y="182880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Ensures secure voting with one-vote-per-voter enforcement and instant result generation.</a:t>
            </a:r>
            <a:endParaRPr lang="en-US" sz="1200"/>
          </a:p>
        </p:txBody>
      </p:sp>
      <p:sp>
        <p:nvSpPr>
          <p:cNvPr id="1377795346" name="Shape 19"/>
          <p:cNvSpPr/>
          <p:nvPr/>
        </p:nvSpPr>
        <p:spPr bwMode="auto"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20950724" name="Text 20"/>
          <p:cNvSpPr/>
          <p:nvPr/>
        </p:nvSpPr>
        <p:spPr bwMode="auto">
          <a:xfrm>
            <a:off x="457200" y="4681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Python  </a:t>
            </a:r>
            <a:r>
              <a:rPr lang="en-US" sz="12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Language</a:t>
            </a:r>
            <a:endParaRPr lang="en-US" sz="1600"/>
          </a:p>
        </p:txBody>
      </p:sp>
      <p:sp>
        <p:nvSpPr>
          <p:cNvPr id="1018353142" name="Text 21"/>
          <p:cNvSpPr/>
          <p:nvPr/>
        </p:nvSpPr>
        <p:spPr bwMode="auto">
          <a:xfrm>
            <a:off x="2697480" y="4681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SQLite  </a:t>
            </a:r>
            <a:r>
              <a:rPr lang="en-US" sz="12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Database</a:t>
            </a:r>
            <a:endParaRPr lang="en-US" sz="1600"/>
          </a:p>
        </p:txBody>
      </p:sp>
      <p:sp>
        <p:nvSpPr>
          <p:cNvPr id="184411246" name="Text 22"/>
          <p:cNvSpPr/>
          <p:nvPr/>
        </p:nvSpPr>
        <p:spPr bwMode="auto">
          <a:xfrm>
            <a:off x="4937760" y="4681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1-Vote  </a:t>
            </a:r>
            <a:r>
              <a:rPr lang="en-US" sz="12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Per Voter</a:t>
            </a:r>
            <a:endParaRPr lang="en-US" sz="1600"/>
          </a:p>
        </p:txBody>
      </p:sp>
      <p:sp>
        <p:nvSpPr>
          <p:cNvPr id="696303630" name="Text 23"/>
          <p:cNvSpPr/>
          <p:nvPr/>
        </p:nvSpPr>
        <p:spPr bwMode="auto">
          <a:xfrm>
            <a:off x="7178039" y="4681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Instant  </a:t>
            </a:r>
            <a:r>
              <a:rPr lang="en-US" sz="12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Results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755660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69134456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OBJECTIVES &amp; SCOPE</a:t>
            </a:r>
            <a:endParaRPr lang="en-US" sz="1400"/>
          </a:p>
        </p:txBody>
      </p:sp>
      <p:sp>
        <p:nvSpPr>
          <p:cNvPr id="578262432" name="Text 2"/>
          <p:cNvSpPr/>
          <p:nvPr/>
        </p:nvSpPr>
        <p:spPr bwMode="auto">
          <a:xfrm>
            <a:off x="27432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We Aim to Achieve</a:t>
            </a:r>
            <a:endParaRPr lang="en-US" sz="2000"/>
          </a:p>
        </p:txBody>
      </p:sp>
      <p:sp>
        <p:nvSpPr>
          <p:cNvPr id="1374244542" name="Shape 3"/>
          <p:cNvSpPr/>
          <p:nvPr/>
        </p:nvSpPr>
        <p:spPr bwMode="auto">
          <a:xfrm>
            <a:off x="274320" y="1097280"/>
            <a:ext cx="4023360" cy="35661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97014578" name="Shape 4"/>
          <p:cNvSpPr/>
          <p:nvPr/>
        </p:nvSpPr>
        <p:spPr bwMode="auto">
          <a:xfrm>
            <a:off x="274320" y="1097280"/>
            <a:ext cx="40233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1985401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170432"/>
            <a:ext cx="310896" cy="310896"/>
          </a:xfrm>
          <a:prstGeom prst="rect">
            <a:avLst/>
          </a:prstGeom>
        </p:spPr>
      </p:pic>
      <p:sp>
        <p:nvSpPr>
          <p:cNvPr id="1281317895" name="Text 5"/>
          <p:cNvSpPr/>
          <p:nvPr/>
        </p:nvSpPr>
        <p:spPr bwMode="auto">
          <a:xfrm>
            <a:off x="749808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OBJECTIVES</a:t>
            </a:r>
            <a:endParaRPr lang="en-US" sz="1300"/>
          </a:p>
        </p:txBody>
      </p:sp>
      <p:sp>
        <p:nvSpPr>
          <p:cNvPr id="1662444602" name="Shape 6"/>
          <p:cNvSpPr/>
          <p:nvPr/>
        </p:nvSpPr>
        <p:spPr bwMode="auto">
          <a:xfrm>
            <a:off x="438912" y="1709928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71655581" name="Text 7"/>
          <p:cNvSpPr/>
          <p:nvPr/>
        </p:nvSpPr>
        <p:spPr bwMode="auto">
          <a:xfrm>
            <a:off x="713232" y="16642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 a simple EVM using Python programming</a:t>
            </a:r>
            <a:endParaRPr lang="en-US" sz="1200"/>
          </a:p>
        </p:txBody>
      </p:sp>
      <p:sp>
        <p:nvSpPr>
          <p:cNvPr id="338985834" name="Shape 8"/>
          <p:cNvSpPr/>
          <p:nvPr/>
        </p:nvSpPr>
        <p:spPr bwMode="auto">
          <a:xfrm>
            <a:off x="438912" y="2276856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31723208" name="Text 9"/>
          <p:cNvSpPr/>
          <p:nvPr/>
        </p:nvSpPr>
        <p:spPr bwMode="auto">
          <a:xfrm>
            <a:off x="713232" y="223113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Integrate SQL database for candidates and voters</a:t>
            </a:r>
            <a:endParaRPr lang="en-US" sz="1200"/>
          </a:p>
        </p:txBody>
      </p:sp>
      <p:sp>
        <p:nvSpPr>
          <p:cNvPr id="347871225" name="Shape 10"/>
          <p:cNvSpPr/>
          <p:nvPr/>
        </p:nvSpPr>
        <p:spPr bwMode="auto">
          <a:xfrm>
            <a:off x="438912" y="2843784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21940952" name="Text 11"/>
          <p:cNvSpPr/>
          <p:nvPr/>
        </p:nvSpPr>
        <p:spPr bwMode="auto">
          <a:xfrm>
            <a:off x="713232" y="27980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Ensure secure voting — one voter can vote only once</a:t>
            </a:r>
            <a:endParaRPr lang="en-US" sz="1200"/>
          </a:p>
        </p:txBody>
      </p:sp>
      <p:sp>
        <p:nvSpPr>
          <p:cNvPr id="1120936713" name="Shape 12"/>
          <p:cNvSpPr/>
          <p:nvPr/>
        </p:nvSpPr>
        <p:spPr bwMode="auto">
          <a:xfrm>
            <a:off x="438912" y="3410712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44409836" name="Text 13"/>
          <p:cNvSpPr/>
          <p:nvPr/>
        </p:nvSpPr>
        <p:spPr bwMode="auto">
          <a:xfrm>
            <a:off x="713232" y="33649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Provide fast and accurate vote counting</a:t>
            </a:r>
            <a:endParaRPr lang="en-US" sz="1200"/>
          </a:p>
        </p:txBody>
      </p:sp>
      <p:sp>
        <p:nvSpPr>
          <p:cNvPr id="246484059" name="Shape 14"/>
          <p:cNvSpPr/>
          <p:nvPr/>
        </p:nvSpPr>
        <p:spPr bwMode="auto">
          <a:xfrm>
            <a:off x="438912" y="3977640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18040695" name="Text 15"/>
          <p:cNvSpPr/>
          <p:nvPr/>
        </p:nvSpPr>
        <p:spPr bwMode="auto">
          <a:xfrm>
            <a:off x="713232" y="3931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Understand practical use of DB systems</a:t>
            </a:r>
            <a:endParaRPr lang="en-US" sz="1200"/>
          </a:p>
        </p:txBody>
      </p:sp>
      <p:sp>
        <p:nvSpPr>
          <p:cNvPr id="425067333" name="Shape 16"/>
          <p:cNvSpPr/>
          <p:nvPr/>
        </p:nvSpPr>
        <p:spPr bwMode="auto">
          <a:xfrm>
            <a:off x="4572000" y="1097280"/>
            <a:ext cx="4297680" cy="35661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71303761" name="Shape 17"/>
          <p:cNvSpPr/>
          <p:nvPr/>
        </p:nvSpPr>
        <p:spPr bwMode="auto">
          <a:xfrm>
            <a:off x="4572000" y="1097280"/>
            <a:ext cx="429768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28854699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63440" y="1170432"/>
            <a:ext cx="310896" cy="310896"/>
          </a:xfrm>
          <a:prstGeom prst="rect">
            <a:avLst/>
          </a:prstGeom>
        </p:spPr>
      </p:pic>
      <p:sp>
        <p:nvSpPr>
          <p:cNvPr id="2056284833" name="Text 18"/>
          <p:cNvSpPr/>
          <p:nvPr/>
        </p:nvSpPr>
        <p:spPr bwMode="auto">
          <a:xfrm>
            <a:off x="5047488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SCOPE</a:t>
            </a:r>
            <a:endParaRPr lang="en-US" sz="1300"/>
          </a:p>
        </p:txBody>
      </p:sp>
      <p:sp>
        <p:nvSpPr>
          <p:cNvPr id="1281633232" name="Shape 19"/>
          <p:cNvSpPr/>
          <p:nvPr/>
        </p:nvSpPr>
        <p:spPr bwMode="auto">
          <a:xfrm>
            <a:off x="4709160" y="1709928"/>
            <a:ext cx="201168" cy="201168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275946483" name="Text 20"/>
          <p:cNvSpPr/>
          <p:nvPr/>
        </p:nvSpPr>
        <p:spPr bwMode="auto">
          <a:xfrm>
            <a:off x="4983480" y="16642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Suitable for college, organization, or survey voting</a:t>
            </a:r>
            <a:endParaRPr lang="en-US" sz="1200"/>
          </a:p>
        </p:txBody>
      </p:sp>
      <p:sp>
        <p:nvSpPr>
          <p:cNvPr id="1011946597" name="Shape 21"/>
          <p:cNvSpPr/>
          <p:nvPr/>
        </p:nvSpPr>
        <p:spPr bwMode="auto">
          <a:xfrm>
            <a:off x="4709160" y="2276856"/>
            <a:ext cx="201168" cy="201168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347755067" name="Text 22"/>
          <p:cNvSpPr/>
          <p:nvPr/>
        </p:nvSpPr>
        <p:spPr bwMode="auto">
          <a:xfrm>
            <a:off x="4983480" y="22311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Easy to use, deploy, and extend</a:t>
            </a:r>
            <a:endParaRPr lang="en-US" sz="1200"/>
          </a:p>
        </p:txBody>
      </p:sp>
      <p:sp>
        <p:nvSpPr>
          <p:cNvPr id="1024188119" name="Shape 23"/>
          <p:cNvSpPr/>
          <p:nvPr/>
        </p:nvSpPr>
        <p:spPr bwMode="auto">
          <a:xfrm>
            <a:off x="4709160" y="2843784"/>
            <a:ext cx="201168" cy="201168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207977387" name="Text 24"/>
          <p:cNvSpPr/>
          <p:nvPr/>
        </p:nvSpPr>
        <p:spPr bwMode="auto">
          <a:xfrm>
            <a:off x="4983480" y="27980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Can be scaled to larger systems</a:t>
            </a:r>
            <a:endParaRPr lang="en-US" sz="1200"/>
          </a:p>
        </p:txBody>
      </p:sp>
      <p:sp>
        <p:nvSpPr>
          <p:cNvPr id="224136464" name="Shape 25"/>
          <p:cNvSpPr/>
          <p:nvPr/>
        </p:nvSpPr>
        <p:spPr bwMode="auto">
          <a:xfrm>
            <a:off x="4709160" y="3410712"/>
            <a:ext cx="201168" cy="201168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687891484" name="Text 26"/>
          <p:cNvSpPr/>
          <p:nvPr/>
        </p:nvSpPr>
        <p:spPr bwMode="auto">
          <a:xfrm>
            <a:off x="4983480" y="33649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Future: GUI, online voting, biometric auth</a:t>
            </a:r>
            <a:endParaRPr lang="en-US" sz="1200"/>
          </a:p>
        </p:txBody>
      </p:sp>
      <p:sp>
        <p:nvSpPr>
          <p:cNvPr id="83869842" name="Shape 27"/>
          <p:cNvSpPr/>
          <p:nvPr/>
        </p:nvSpPr>
        <p:spPr bwMode="auto">
          <a:xfrm>
            <a:off x="4709160" y="3977640"/>
            <a:ext cx="201168" cy="201168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67540057" name="Text 28"/>
          <p:cNvSpPr/>
          <p:nvPr/>
        </p:nvSpPr>
        <p:spPr bwMode="auto">
          <a:xfrm>
            <a:off x="4983480" y="3931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Base for real-world secure voting systems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0F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33216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5488203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LITERATURE &amp; SURVEY</a:t>
            </a:r>
            <a:endParaRPr lang="en-US" sz="1400"/>
          </a:p>
        </p:txBody>
      </p:sp>
      <p:sp>
        <p:nvSpPr>
          <p:cNvPr id="1601662925" name="Text 2"/>
          <p:cNvSpPr/>
          <p:nvPr/>
        </p:nvSpPr>
        <p:spPr bwMode="auto"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Evolution of Voting Systems</a:t>
            </a:r>
            <a:endParaRPr lang="en-US" sz="2000"/>
          </a:p>
        </p:txBody>
      </p:sp>
      <p:sp>
        <p:nvSpPr>
          <p:cNvPr id="543376705" name="Shape 3"/>
          <p:cNvSpPr/>
          <p:nvPr/>
        </p:nvSpPr>
        <p:spPr bwMode="auto">
          <a:xfrm>
            <a:off x="274320" y="114300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52284265" name="Shape 4"/>
          <p:cNvSpPr/>
          <p:nvPr/>
        </p:nvSpPr>
        <p:spPr bwMode="auto">
          <a:xfrm>
            <a:off x="274320" y="1143000"/>
            <a:ext cx="109728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11082024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5488" y="1307592"/>
            <a:ext cx="411480" cy="411480"/>
          </a:xfrm>
          <a:prstGeom prst="rect">
            <a:avLst/>
          </a:prstGeom>
        </p:spPr>
      </p:pic>
      <p:sp>
        <p:nvSpPr>
          <p:cNvPr id="1380708409" name="Text 5"/>
          <p:cNvSpPr/>
          <p:nvPr/>
        </p:nvSpPr>
        <p:spPr bwMode="auto">
          <a:xfrm>
            <a:off x="1024128" y="1143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53935"/>
                </a:solidFill>
                <a:latin typeface="Calibri"/>
                <a:ea typeface="Calibri"/>
                <a:cs typeface="Calibri"/>
              </a:rPr>
              <a:t>Traditional</a:t>
            </a:r>
            <a:endParaRPr lang="en-US" sz="1400"/>
          </a:p>
        </p:txBody>
      </p:sp>
      <p:sp>
        <p:nvSpPr>
          <p:cNvPr id="1608232126" name="Shape 6"/>
          <p:cNvSpPr/>
          <p:nvPr/>
        </p:nvSpPr>
        <p:spPr bwMode="auto">
          <a:xfrm>
            <a:off x="2724911" y="1325880"/>
            <a:ext cx="18288" cy="41148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60348263" name="Text 7"/>
          <p:cNvSpPr/>
          <p:nvPr/>
        </p:nvSpPr>
        <p:spPr bwMode="auto">
          <a:xfrm>
            <a:off x="2880360" y="11430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Paper ballots used for decades — slow counting, prone to errors and fraud</a:t>
            </a:r>
            <a:endParaRPr lang="en-US" sz="1300"/>
          </a:p>
        </p:txBody>
      </p:sp>
      <p:sp>
        <p:nvSpPr>
          <p:cNvPr id="725354184" name="Shape 8"/>
          <p:cNvSpPr/>
          <p:nvPr/>
        </p:nvSpPr>
        <p:spPr bwMode="auto">
          <a:xfrm>
            <a:off x="274320" y="205740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25338066" name="Shape 9"/>
          <p:cNvSpPr/>
          <p:nvPr/>
        </p:nvSpPr>
        <p:spPr bwMode="auto">
          <a:xfrm>
            <a:off x="274320" y="2057400"/>
            <a:ext cx="10972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3125257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5488" y="2221992"/>
            <a:ext cx="411480" cy="411480"/>
          </a:xfrm>
          <a:prstGeom prst="rect">
            <a:avLst/>
          </a:prstGeom>
        </p:spPr>
      </p:pic>
      <p:sp>
        <p:nvSpPr>
          <p:cNvPr id="447562259" name="Text 10"/>
          <p:cNvSpPr/>
          <p:nvPr/>
        </p:nvSpPr>
        <p:spPr bwMode="auto">
          <a:xfrm>
            <a:off x="1024128" y="2057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Electronic Era</a:t>
            </a:r>
            <a:endParaRPr lang="en-US" sz="1400"/>
          </a:p>
        </p:txBody>
      </p:sp>
      <p:sp>
        <p:nvSpPr>
          <p:cNvPr id="1349787540" name="Shape 11"/>
          <p:cNvSpPr/>
          <p:nvPr/>
        </p:nvSpPr>
        <p:spPr bwMode="auto">
          <a:xfrm>
            <a:off x="2724911" y="2240280"/>
            <a:ext cx="18288" cy="41148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69226938" name="Text 12"/>
          <p:cNvSpPr/>
          <p:nvPr/>
        </p:nvSpPr>
        <p:spPr bwMode="auto">
          <a:xfrm>
            <a:off x="2880360" y="20574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EVM introduced for faster, tamper-resistant elections with automated counting</a:t>
            </a:r>
            <a:endParaRPr lang="en-US" sz="1300"/>
          </a:p>
        </p:txBody>
      </p:sp>
      <p:sp>
        <p:nvSpPr>
          <p:cNvPr id="61211922" name="Shape 13"/>
          <p:cNvSpPr/>
          <p:nvPr/>
        </p:nvSpPr>
        <p:spPr bwMode="auto">
          <a:xfrm>
            <a:off x="274320" y="297180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33311301" name="Shape 14"/>
          <p:cNvSpPr/>
          <p:nvPr/>
        </p:nvSpPr>
        <p:spPr bwMode="auto">
          <a:xfrm>
            <a:off x="274320" y="2971800"/>
            <a:ext cx="109728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41863958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75488" y="3136392"/>
            <a:ext cx="411480" cy="411480"/>
          </a:xfrm>
          <a:prstGeom prst="rect">
            <a:avLst/>
          </a:prstGeom>
        </p:spPr>
      </p:pic>
      <p:sp>
        <p:nvSpPr>
          <p:cNvPr id="1164604645" name="Text 15"/>
          <p:cNvSpPr/>
          <p:nvPr/>
        </p:nvSpPr>
        <p:spPr bwMode="auto">
          <a:xfrm>
            <a:off x="1024128" y="2971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897B"/>
                </a:solidFill>
                <a:latin typeface="Calibri"/>
                <a:ea typeface="Calibri"/>
                <a:cs typeface="Calibri"/>
              </a:rPr>
              <a:t>Database Era</a:t>
            </a:r>
            <a:endParaRPr lang="en-US" sz="1400"/>
          </a:p>
        </p:txBody>
      </p:sp>
      <p:sp>
        <p:nvSpPr>
          <p:cNvPr id="1503511918" name="Shape 16"/>
          <p:cNvSpPr/>
          <p:nvPr/>
        </p:nvSpPr>
        <p:spPr bwMode="auto">
          <a:xfrm>
            <a:off x="2724911" y="3154680"/>
            <a:ext cx="18288" cy="41148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28261850" name="Text 17"/>
          <p:cNvSpPr/>
          <p:nvPr/>
        </p:nvSpPr>
        <p:spPr bwMode="auto">
          <a:xfrm>
            <a:off x="2880360" y="29718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SQL databases securely store voter and candidate records with ACID compliance</a:t>
            </a:r>
            <a:endParaRPr lang="en-US" sz="1300"/>
          </a:p>
        </p:txBody>
      </p:sp>
      <p:sp>
        <p:nvSpPr>
          <p:cNvPr id="2011097709" name="Shape 18"/>
          <p:cNvSpPr/>
          <p:nvPr/>
        </p:nvSpPr>
        <p:spPr bwMode="auto">
          <a:xfrm>
            <a:off x="274320" y="388620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88899422" name="Shape 19"/>
          <p:cNvSpPr/>
          <p:nvPr/>
        </p:nvSpPr>
        <p:spPr bwMode="auto">
          <a:xfrm>
            <a:off x="274320" y="3886200"/>
            <a:ext cx="109728" cy="7772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230714498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75488" y="4050792"/>
            <a:ext cx="411480" cy="411480"/>
          </a:xfrm>
          <a:prstGeom prst="rect">
            <a:avLst/>
          </a:prstGeom>
        </p:spPr>
      </p:pic>
      <p:sp>
        <p:nvSpPr>
          <p:cNvPr id="1957459067" name="Text 20"/>
          <p:cNvSpPr/>
          <p:nvPr/>
        </p:nvSpPr>
        <p:spPr bwMode="auto">
          <a:xfrm>
            <a:off x="1024128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43A047"/>
                </a:solidFill>
                <a:latin typeface="Calibri"/>
                <a:ea typeface="Calibri"/>
                <a:cs typeface="Calibri"/>
              </a:rPr>
              <a:t>Modern System</a:t>
            </a:r>
            <a:endParaRPr lang="en-US" sz="1400"/>
          </a:p>
        </p:txBody>
      </p:sp>
      <p:sp>
        <p:nvSpPr>
          <p:cNvPr id="1115790754" name="Shape 21"/>
          <p:cNvSpPr/>
          <p:nvPr/>
        </p:nvSpPr>
        <p:spPr bwMode="auto">
          <a:xfrm>
            <a:off x="2724911" y="4069080"/>
            <a:ext cx="18288" cy="41148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8839762" name="Text 22"/>
          <p:cNvSpPr/>
          <p:nvPr/>
        </p:nvSpPr>
        <p:spPr bwMode="auto">
          <a:xfrm>
            <a:off x="2880360" y="38862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Our project combines Python + SQLite for a lightweight, portable secure EVM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786154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59302442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 &amp; PROPOSED SYSTEM</a:t>
            </a:r>
            <a:endParaRPr lang="en-US" sz="1400"/>
          </a:p>
        </p:txBody>
      </p:sp>
      <p:sp>
        <p:nvSpPr>
          <p:cNvPr id="1273421081" name="Text 2"/>
          <p:cNvSpPr/>
          <p:nvPr/>
        </p:nvSpPr>
        <p:spPr bwMode="auto"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We Built It</a:t>
            </a:r>
            <a:endParaRPr lang="en-US" sz="2000"/>
          </a:p>
        </p:txBody>
      </p:sp>
      <p:sp>
        <p:nvSpPr>
          <p:cNvPr id="933663094" name="Shape 3"/>
          <p:cNvSpPr/>
          <p:nvPr/>
        </p:nvSpPr>
        <p:spPr bwMode="auto">
          <a:xfrm>
            <a:off x="274320" y="1097280"/>
            <a:ext cx="2651760" cy="192024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43548675" name="Shape 4"/>
          <p:cNvSpPr/>
          <p:nvPr/>
        </p:nvSpPr>
        <p:spPr bwMode="auto">
          <a:xfrm>
            <a:off x="274320" y="1097280"/>
            <a:ext cx="26517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63875399" name="Text 5"/>
          <p:cNvSpPr/>
          <p:nvPr/>
        </p:nvSpPr>
        <p:spPr bwMode="auto">
          <a:xfrm>
            <a:off x="27432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2000"/>
          </a:p>
        </p:txBody>
      </p:sp>
      <p:sp>
        <p:nvSpPr>
          <p:cNvPr id="1266343876" name="Text 6"/>
          <p:cNvSpPr/>
          <p:nvPr/>
        </p:nvSpPr>
        <p:spPr bwMode="auto">
          <a:xfrm>
            <a:off x="77724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Requirement Analysis</a:t>
            </a:r>
            <a:endParaRPr lang="en-US" sz="1200"/>
          </a:p>
        </p:txBody>
      </p:sp>
      <p:sp>
        <p:nvSpPr>
          <p:cNvPr id="460809687" name="Text 7"/>
          <p:cNvSpPr/>
          <p:nvPr/>
        </p:nvSpPr>
        <p:spPr bwMode="auto">
          <a:xfrm>
            <a:off x="411480" y="16916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Studied voting system needs: security, uniqueness, accuracy</a:t>
            </a:r>
            <a:endParaRPr lang="en-US" sz="1200"/>
          </a:p>
        </p:txBody>
      </p:sp>
      <p:pic>
        <p:nvPicPr>
          <p:cNvPr id="17311000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71800" y="1417320"/>
            <a:ext cx="274320" cy="274320"/>
          </a:xfrm>
          <a:prstGeom prst="rect">
            <a:avLst/>
          </a:prstGeom>
        </p:spPr>
      </p:pic>
      <p:sp>
        <p:nvSpPr>
          <p:cNvPr id="341630211" name="Shape 8"/>
          <p:cNvSpPr/>
          <p:nvPr/>
        </p:nvSpPr>
        <p:spPr bwMode="auto">
          <a:xfrm>
            <a:off x="3200400" y="1097280"/>
            <a:ext cx="2651760" cy="192024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89127961" name="Shape 9"/>
          <p:cNvSpPr/>
          <p:nvPr/>
        </p:nvSpPr>
        <p:spPr bwMode="auto">
          <a:xfrm>
            <a:off x="3200400" y="1097280"/>
            <a:ext cx="265176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35100558" name="Text 10"/>
          <p:cNvSpPr/>
          <p:nvPr/>
        </p:nvSpPr>
        <p:spPr bwMode="auto">
          <a:xfrm>
            <a:off x="320040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2000"/>
          </a:p>
        </p:txBody>
      </p:sp>
      <p:sp>
        <p:nvSpPr>
          <p:cNvPr id="740436881" name="Text 11"/>
          <p:cNvSpPr/>
          <p:nvPr/>
        </p:nvSpPr>
        <p:spPr bwMode="auto">
          <a:xfrm>
            <a:off x="370332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Database Design</a:t>
            </a:r>
            <a:endParaRPr lang="en-US" sz="1200"/>
          </a:p>
        </p:txBody>
      </p:sp>
      <p:sp>
        <p:nvSpPr>
          <p:cNvPr id="1011999548" name="Text 12"/>
          <p:cNvSpPr/>
          <p:nvPr/>
        </p:nvSpPr>
        <p:spPr bwMode="auto">
          <a:xfrm>
            <a:off x="3337560" y="16916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Designed voters &amp; candidates tables with constraints</a:t>
            </a:r>
            <a:endParaRPr lang="en-US" sz="1200"/>
          </a:p>
        </p:txBody>
      </p:sp>
      <p:pic>
        <p:nvPicPr>
          <p:cNvPr id="38755882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97880" y="1417320"/>
            <a:ext cx="274320" cy="274320"/>
          </a:xfrm>
          <a:prstGeom prst="rect">
            <a:avLst/>
          </a:prstGeom>
        </p:spPr>
      </p:pic>
      <p:sp>
        <p:nvSpPr>
          <p:cNvPr id="1932877108" name="Shape 13"/>
          <p:cNvSpPr/>
          <p:nvPr/>
        </p:nvSpPr>
        <p:spPr bwMode="auto">
          <a:xfrm>
            <a:off x="6126480" y="1097280"/>
            <a:ext cx="2651760" cy="192024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70756375" name="Shape 14"/>
          <p:cNvSpPr/>
          <p:nvPr/>
        </p:nvSpPr>
        <p:spPr bwMode="auto">
          <a:xfrm>
            <a:off x="6126480" y="1097280"/>
            <a:ext cx="2651760" cy="5029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856280746" name="Text 15"/>
          <p:cNvSpPr/>
          <p:nvPr/>
        </p:nvSpPr>
        <p:spPr bwMode="auto">
          <a:xfrm>
            <a:off x="612648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2000"/>
          </a:p>
        </p:txBody>
      </p:sp>
      <p:sp>
        <p:nvSpPr>
          <p:cNvPr id="943715852" name="Text 16"/>
          <p:cNvSpPr/>
          <p:nvPr/>
        </p:nvSpPr>
        <p:spPr bwMode="auto">
          <a:xfrm>
            <a:off x="662940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Implementation</a:t>
            </a:r>
            <a:endParaRPr lang="en-US" sz="1200"/>
          </a:p>
        </p:txBody>
      </p:sp>
      <p:sp>
        <p:nvSpPr>
          <p:cNvPr id="689497384" name="Text 17"/>
          <p:cNvSpPr/>
          <p:nvPr/>
        </p:nvSpPr>
        <p:spPr bwMode="auto">
          <a:xfrm>
            <a:off x="6263640" y="16916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Coded in Python using sqlite3 module with secure queries</a:t>
            </a:r>
            <a:endParaRPr lang="en-US" sz="1200"/>
          </a:p>
        </p:txBody>
      </p:sp>
      <p:sp>
        <p:nvSpPr>
          <p:cNvPr id="366282804" name="Text 18"/>
          <p:cNvSpPr/>
          <p:nvPr/>
        </p:nvSpPr>
        <p:spPr bwMode="auto">
          <a:xfrm>
            <a:off x="274320" y="3200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PROPOSED SYSTEM</a:t>
            </a:r>
            <a:endParaRPr lang="en-US" sz="1600"/>
          </a:p>
        </p:txBody>
      </p:sp>
      <p:sp>
        <p:nvSpPr>
          <p:cNvPr id="2138329123" name="Shape 19"/>
          <p:cNvSpPr/>
          <p:nvPr/>
        </p:nvSpPr>
        <p:spPr bwMode="auto">
          <a:xfrm>
            <a:off x="320040" y="3703320"/>
            <a:ext cx="201168" cy="20116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51607789" name="Text 20"/>
          <p:cNvSpPr/>
          <p:nvPr/>
        </p:nvSpPr>
        <p:spPr bwMode="auto">
          <a:xfrm>
            <a:off x="594360" y="363931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Database-backed EVM storing candidate and voter data securely</a:t>
            </a:r>
            <a:endParaRPr lang="en-US" sz="1200"/>
          </a:p>
        </p:txBody>
      </p:sp>
      <p:sp>
        <p:nvSpPr>
          <p:cNvPr id="1745231824" name="Shape 21"/>
          <p:cNvSpPr/>
          <p:nvPr/>
        </p:nvSpPr>
        <p:spPr bwMode="auto">
          <a:xfrm>
            <a:off x="4754880" y="3703320"/>
            <a:ext cx="201168" cy="20116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00891820" name="Text 22"/>
          <p:cNvSpPr/>
          <p:nvPr/>
        </p:nvSpPr>
        <p:spPr bwMode="auto">
          <a:xfrm>
            <a:off x="5029200" y="363931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Enforces one-vote constraint per voter using primary key uniqueness</a:t>
            </a:r>
            <a:endParaRPr lang="en-US" sz="1200"/>
          </a:p>
        </p:txBody>
      </p:sp>
      <p:sp>
        <p:nvSpPr>
          <p:cNvPr id="484641564" name="Shape 23"/>
          <p:cNvSpPr/>
          <p:nvPr/>
        </p:nvSpPr>
        <p:spPr bwMode="auto">
          <a:xfrm>
            <a:off x="320040" y="4270248"/>
            <a:ext cx="201168" cy="20116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05367938" name="Text 24"/>
          <p:cNvSpPr/>
          <p:nvPr/>
        </p:nvSpPr>
        <p:spPr bwMode="auto">
          <a:xfrm>
            <a:off x="594360" y="420624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Automatic vote tallying with real-time result display</a:t>
            </a:r>
            <a:endParaRPr lang="en-US" sz="1200"/>
          </a:p>
        </p:txBody>
      </p:sp>
      <p:sp>
        <p:nvSpPr>
          <p:cNvPr id="1076913897" name="Shape 25"/>
          <p:cNvSpPr/>
          <p:nvPr/>
        </p:nvSpPr>
        <p:spPr bwMode="auto">
          <a:xfrm>
            <a:off x="4754880" y="4270248"/>
            <a:ext cx="201168" cy="20116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26921195" name="Text 26"/>
          <p:cNvSpPr/>
          <p:nvPr/>
        </p:nvSpPr>
        <p:spPr bwMode="auto">
          <a:xfrm>
            <a:off x="5029200" y="420624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4-digit secret key authentication for voter identity verification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0F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99772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96668126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&amp; IMPLEMENTATION</a:t>
            </a:r>
            <a:endParaRPr lang="en-US" sz="1400"/>
          </a:p>
        </p:txBody>
      </p:sp>
      <p:sp>
        <p:nvSpPr>
          <p:cNvPr id="1327374775" name="Shape 2"/>
          <p:cNvSpPr/>
          <p:nvPr/>
        </p:nvSpPr>
        <p:spPr bwMode="auto">
          <a:xfrm>
            <a:off x="274320" y="594360"/>
            <a:ext cx="41148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34745116" name="Shape 3"/>
          <p:cNvSpPr/>
          <p:nvPr/>
        </p:nvSpPr>
        <p:spPr bwMode="auto">
          <a:xfrm>
            <a:off x="274320" y="594360"/>
            <a:ext cx="41148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7977092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667512"/>
            <a:ext cx="301752" cy="301752"/>
          </a:xfrm>
          <a:prstGeom prst="rect">
            <a:avLst/>
          </a:prstGeom>
        </p:spPr>
      </p:pic>
      <p:sp>
        <p:nvSpPr>
          <p:cNvPr id="1607855945" name="Text 4"/>
          <p:cNvSpPr/>
          <p:nvPr/>
        </p:nvSpPr>
        <p:spPr bwMode="auto">
          <a:xfrm>
            <a:off x="749808" y="594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Design</a:t>
            </a:r>
            <a:endParaRPr lang="en-US" sz="1400"/>
          </a:p>
        </p:txBody>
      </p:sp>
      <p:sp>
        <p:nvSpPr>
          <p:cNvPr id="1047254422" name="Shape 5"/>
          <p:cNvSpPr/>
          <p:nvPr/>
        </p:nvSpPr>
        <p:spPr bwMode="auto">
          <a:xfrm>
            <a:off x="548640" y="1188720"/>
            <a:ext cx="3566160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70836544" name="Text 6"/>
          <p:cNvSpPr/>
          <p:nvPr/>
        </p:nvSpPr>
        <p:spPr bwMode="auto">
          <a:xfrm>
            <a:off x="548640" y="1188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Input</a:t>
            </a:r>
            <a:endParaRPr lang="en-US" sz="1500"/>
          </a:p>
        </p:txBody>
      </p:sp>
      <p:pic>
        <p:nvPicPr>
          <p:cNvPr id="153670286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920240" y="1874520"/>
            <a:ext cx="274320" cy="201168"/>
          </a:xfrm>
          <a:prstGeom prst="rect">
            <a:avLst/>
          </a:prstGeom>
        </p:spPr>
      </p:pic>
      <p:sp>
        <p:nvSpPr>
          <p:cNvPr id="1642411335" name="Shape 7"/>
          <p:cNvSpPr/>
          <p:nvPr/>
        </p:nvSpPr>
        <p:spPr bwMode="auto">
          <a:xfrm>
            <a:off x="548640" y="2103120"/>
            <a:ext cx="356616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45246329" name="Text 8"/>
          <p:cNvSpPr/>
          <p:nvPr/>
        </p:nvSpPr>
        <p:spPr bwMode="auto">
          <a:xfrm>
            <a:off x="54864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Program</a:t>
            </a:r>
            <a:endParaRPr lang="en-US" sz="1500"/>
          </a:p>
        </p:txBody>
      </p:sp>
      <p:pic>
        <p:nvPicPr>
          <p:cNvPr id="173579295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920240" y="2788920"/>
            <a:ext cx="274320" cy="201168"/>
          </a:xfrm>
          <a:prstGeom prst="rect">
            <a:avLst/>
          </a:prstGeom>
        </p:spPr>
      </p:pic>
      <p:sp>
        <p:nvSpPr>
          <p:cNvPr id="54068111" name="Shape 9"/>
          <p:cNvSpPr/>
          <p:nvPr/>
        </p:nvSpPr>
        <p:spPr bwMode="auto">
          <a:xfrm>
            <a:off x="548640" y="3017519"/>
            <a:ext cx="3566160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67281787" name="Text 10"/>
          <p:cNvSpPr/>
          <p:nvPr/>
        </p:nvSpPr>
        <p:spPr bwMode="auto">
          <a:xfrm>
            <a:off x="548640" y="3017519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SQLite Database</a:t>
            </a:r>
            <a:endParaRPr lang="en-US" sz="1500"/>
          </a:p>
        </p:txBody>
      </p:sp>
      <p:sp>
        <p:nvSpPr>
          <p:cNvPr id="259982633" name="Text 11"/>
          <p:cNvSpPr/>
          <p:nvPr/>
        </p:nvSpPr>
        <p:spPr bwMode="auto">
          <a:xfrm>
            <a:off x="41148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Modules: Input  ·  Voting  ·  Database  ·  Result</a:t>
            </a:r>
            <a:endParaRPr lang="en-US" sz="1100"/>
          </a:p>
        </p:txBody>
      </p:sp>
      <p:sp>
        <p:nvSpPr>
          <p:cNvPr id="496490048" name="Shape 12"/>
          <p:cNvSpPr/>
          <p:nvPr/>
        </p:nvSpPr>
        <p:spPr bwMode="auto">
          <a:xfrm>
            <a:off x="4663440" y="594360"/>
            <a:ext cx="42062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11152891" name="Shape 13"/>
          <p:cNvSpPr/>
          <p:nvPr/>
        </p:nvSpPr>
        <p:spPr bwMode="auto">
          <a:xfrm>
            <a:off x="4663440" y="594360"/>
            <a:ext cx="42062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230804545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754880" y="667512"/>
            <a:ext cx="301752" cy="301752"/>
          </a:xfrm>
          <a:prstGeom prst="rect">
            <a:avLst/>
          </a:prstGeom>
        </p:spPr>
      </p:pic>
      <p:sp>
        <p:nvSpPr>
          <p:cNvPr id="290310969" name="Text 14"/>
          <p:cNvSpPr/>
          <p:nvPr/>
        </p:nvSpPr>
        <p:spPr bwMode="auto">
          <a:xfrm>
            <a:off x="5138928" y="594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Implementation</a:t>
            </a:r>
            <a:endParaRPr lang="en-US" sz="1400"/>
          </a:p>
        </p:txBody>
      </p:sp>
      <p:sp>
        <p:nvSpPr>
          <p:cNvPr id="723361032" name="Text 15"/>
          <p:cNvSpPr/>
          <p:nvPr/>
        </p:nvSpPr>
        <p:spPr bwMode="auto">
          <a:xfrm>
            <a:off x="48006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SQL Operations Used:</a:t>
            </a:r>
            <a:endParaRPr lang="en-US" sz="1300"/>
          </a:p>
        </p:txBody>
      </p:sp>
      <p:sp>
        <p:nvSpPr>
          <p:cNvPr id="2034574510" name="Shape 16"/>
          <p:cNvSpPr/>
          <p:nvPr/>
        </p:nvSpPr>
        <p:spPr bwMode="auto">
          <a:xfrm>
            <a:off x="4800600" y="1572768"/>
            <a:ext cx="393192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86281540" name="Text 17"/>
          <p:cNvSpPr/>
          <p:nvPr/>
        </p:nvSpPr>
        <p:spPr bwMode="auto">
          <a:xfrm>
            <a:off x="4800600" y="157276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0BCD4"/>
                </a:solidFill>
                <a:latin typeface="Consolas"/>
                <a:ea typeface="Consolas"/>
                <a:cs typeface="Consolas"/>
              </a:rPr>
              <a:t>SELECT</a:t>
            </a:r>
            <a:endParaRPr lang="en-US" sz="1300"/>
          </a:p>
        </p:txBody>
      </p:sp>
      <p:sp>
        <p:nvSpPr>
          <p:cNvPr id="1416287263" name="Text 18"/>
          <p:cNvSpPr/>
          <p:nvPr/>
        </p:nvSpPr>
        <p:spPr bwMode="auto">
          <a:xfrm>
            <a:off x="5943600" y="157276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Fetch voter/candidate data</a:t>
            </a:r>
            <a:endParaRPr lang="en-US" sz="1200"/>
          </a:p>
        </p:txBody>
      </p:sp>
      <p:sp>
        <p:nvSpPr>
          <p:cNvPr id="1471418442" name="Shape 19"/>
          <p:cNvSpPr/>
          <p:nvPr/>
        </p:nvSpPr>
        <p:spPr bwMode="auto">
          <a:xfrm>
            <a:off x="4800600" y="2231136"/>
            <a:ext cx="393192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91779844" name="Text 20"/>
          <p:cNvSpPr/>
          <p:nvPr/>
        </p:nvSpPr>
        <p:spPr bwMode="auto">
          <a:xfrm>
            <a:off x="4800600" y="22311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0BCD4"/>
                </a:solidFill>
                <a:latin typeface="Consolas"/>
                <a:ea typeface="Consolas"/>
                <a:cs typeface="Consolas"/>
              </a:rPr>
              <a:t>INSERT</a:t>
            </a:r>
            <a:endParaRPr lang="en-US" sz="1300"/>
          </a:p>
        </p:txBody>
      </p:sp>
      <p:sp>
        <p:nvSpPr>
          <p:cNvPr id="394684554" name="Text 21"/>
          <p:cNvSpPr/>
          <p:nvPr/>
        </p:nvSpPr>
        <p:spPr bwMode="auto">
          <a:xfrm>
            <a:off x="5943600" y="223113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Register new voter records</a:t>
            </a:r>
            <a:endParaRPr lang="en-US" sz="1200"/>
          </a:p>
        </p:txBody>
      </p:sp>
      <p:sp>
        <p:nvSpPr>
          <p:cNvPr id="202404215" name="Shape 22"/>
          <p:cNvSpPr/>
          <p:nvPr/>
        </p:nvSpPr>
        <p:spPr bwMode="auto">
          <a:xfrm>
            <a:off x="4800600" y="2889504"/>
            <a:ext cx="393192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11634672" name="Text 23"/>
          <p:cNvSpPr/>
          <p:nvPr/>
        </p:nvSpPr>
        <p:spPr bwMode="auto">
          <a:xfrm>
            <a:off x="4800600" y="28895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0BCD4"/>
                </a:solidFill>
                <a:latin typeface="Consolas"/>
                <a:ea typeface="Consolas"/>
                <a:cs typeface="Consolas"/>
              </a:rPr>
              <a:t>UPDATE</a:t>
            </a:r>
            <a:endParaRPr lang="en-US" sz="1300"/>
          </a:p>
        </p:txBody>
      </p:sp>
      <p:sp>
        <p:nvSpPr>
          <p:cNvPr id="595354472" name="Text 24"/>
          <p:cNvSpPr/>
          <p:nvPr/>
        </p:nvSpPr>
        <p:spPr bwMode="auto">
          <a:xfrm>
            <a:off x="5943600" y="288950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Increment vote count</a:t>
            </a:r>
            <a:endParaRPr lang="en-US" sz="1200"/>
          </a:p>
        </p:txBody>
      </p:sp>
      <p:pic>
        <p:nvPicPr>
          <p:cNvPr id="1092131149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800600" y="3657600"/>
            <a:ext cx="457200" cy="457200"/>
          </a:xfrm>
          <a:prstGeom prst="rect">
            <a:avLst/>
          </a:prstGeom>
        </p:spPr>
      </p:pic>
      <p:sp>
        <p:nvSpPr>
          <p:cNvPr id="1206010612" name="Text 25"/>
          <p:cNvSpPr/>
          <p:nvPr/>
        </p:nvSpPr>
        <p:spPr bwMode="auto">
          <a:xfrm>
            <a:off x="5349240" y="37033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43A047"/>
                </a:solidFill>
                <a:latin typeface="Calibri"/>
                <a:ea typeface="Calibri"/>
                <a:cs typeface="Calibri"/>
              </a:rPr>
              <a:t>Secure voting enforced — no duplicate votes allowed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591304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07002446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FLOW DIAGRAM — LEVEL 0 &amp; LEVEL 1</a:t>
            </a:r>
            <a:endParaRPr lang="en-US" sz="1400"/>
          </a:p>
        </p:txBody>
      </p:sp>
      <p:sp>
        <p:nvSpPr>
          <p:cNvPr id="1392453205" name="Text 2"/>
          <p:cNvSpPr/>
          <p:nvPr/>
        </p:nvSpPr>
        <p:spPr bwMode="auto">
          <a:xfrm>
            <a:off x="274320" y="594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Data Flow</a:t>
            </a:r>
            <a:endParaRPr lang="en-US" sz="1800"/>
          </a:p>
        </p:txBody>
      </p:sp>
      <p:sp>
        <p:nvSpPr>
          <p:cNvPr id="1625905159" name="Shape 3"/>
          <p:cNvSpPr/>
          <p:nvPr/>
        </p:nvSpPr>
        <p:spPr bwMode="auto">
          <a:xfrm>
            <a:off x="137160" y="1051560"/>
            <a:ext cx="1371600" cy="594360"/>
          </a:xfrm>
          <a:prstGeom prst="rect">
            <a:avLst/>
          </a:prstGeom>
          <a:solidFill>
            <a:srgbClr val="1565C0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507861386" name="Text 4"/>
          <p:cNvSpPr/>
          <p:nvPr/>
        </p:nvSpPr>
        <p:spPr bwMode="auto">
          <a:xfrm>
            <a:off x="137160" y="10515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VOTER</a:t>
            </a:r>
            <a:endParaRPr lang="en-US" sz="1200"/>
          </a:p>
        </p:txBody>
      </p:sp>
      <p:sp>
        <p:nvSpPr>
          <p:cNvPr id="387981135" name="Shape 5"/>
          <p:cNvSpPr/>
          <p:nvPr/>
        </p:nvSpPr>
        <p:spPr bwMode="auto">
          <a:xfrm>
            <a:off x="1508759" y="1344168"/>
            <a:ext cx="91440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814309947" name="Text 6"/>
          <p:cNvSpPr/>
          <p:nvPr/>
        </p:nvSpPr>
        <p:spPr bwMode="auto">
          <a:xfrm>
            <a:off x="1508759" y="10241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Name, Age,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Secret Key</a:t>
            </a:r>
            <a:endParaRPr lang="en-US" sz="800"/>
          </a:p>
        </p:txBody>
      </p:sp>
      <p:sp>
        <p:nvSpPr>
          <p:cNvPr id="1907116757" name="Shape 7"/>
          <p:cNvSpPr/>
          <p:nvPr/>
        </p:nvSpPr>
        <p:spPr bwMode="auto">
          <a:xfrm>
            <a:off x="2423160" y="868680"/>
            <a:ext cx="2194560" cy="960120"/>
          </a:xfrm>
          <a:prstGeom prst="ellipse">
            <a:avLst/>
          </a:prstGeom>
          <a:solidFill>
            <a:srgbClr val="1B3A5C"/>
          </a:solidFill>
          <a:ln w="31750">
            <a:solidFill>
              <a:srgbClr val="00BCD4"/>
            </a:solidFill>
            <a:prstDash val="solid"/>
          </a:ln>
        </p:spPr>
      </p:sp>
      <p:sp>
        <p:nvSpPr>
          <p:cNvPr id="135586616" name="Text 8"/>
          <p:cNvSpPr/>
          <p:nvPr/>
        </p:nvSpPr>
        <p:spPr bwMode="auto">
          <a:xfrm>
            <a:off x="2423160" y="8686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EVM SYSTEM</a:t>
            </a:r>
            <a:br>
              <a:rPr lang="en-US" sz="12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</a:b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Program</a:t>
            </a:r>
            <a:endParaRPr lang="en-US" sz="1200"/>
          </a:p>
        </p:txBody>
      </p:sp>
      <p:sp>
        <p:nvSpPr>
          <p:cNvPr id="2048470367" name="Shape 9"/>
          <p:cNvSpPr/>
          <p:nvPr/>
        </p:nvSpPr>
        <p:spPr bwMode="auto">
          <a:xfrm>
            <a:off x="4617720" y="1344168"/>
            <a:ext cx="86868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590529382" name="Text 10"/>
          <p:cNvSpPr/>
          <p:nvPr/>
        </p:nvSpPr>
        <p:spPr bwMode="auto">
          <a:xfrm>
            <a:off x="4617720" y="102412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SQL Queries</a:t>
            </a:r>
            <a:endParaRPr lang="en-US" sz="800"/>
          </a:p>
        </p:txBody>
      </p:sp>
      <p:sp>
        <p:nvSpPr>
          <p:cNvPr id="1721462403" name="Shape 11"/>
          <p:cNvSpPr/>
          <p:nvPr/>
        </p:nvSpPr>
        <p:spPr bwMode="auto">
          <a:xfrm>
            <a:off x="5486400" y="1024128"/>
            <a:ext cx="1645920" cy="640080"/>
          </a:xfrm>
          <a:prstGeom prst="rect">
            <a:avLst/>
          </a:prstGeom>
          <a:solidFill>
            <a:srgbClr val="00897B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2087519441" name="Text 12"/>
          <p:cNvSpPr/>
          <p:nvPr/>
        </p:nvSpPr>
        <p:spPr bwMode="auto">
          <a:xfrm>
            <a:off x="5486400" y="1024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SQLite DB</a:t>
            </a:r>
            <a:endParaRPr lang="en-US" sz="1200"/>
          </a:p>
        </p:txBody>
      </p:sp>
      <p:sp>
        <p:nvSpPr>
          <p:cNvPr id="604351874" name="Shape 13"/>
          <p:cNvSpPr/>
          <p:nvPr/>
        </p:nvSpPr>
        <p:spPr bwMode="auto">
          <a:xfrm>
            <a:off x="4617720" y="1508759"/>
            <a:ext cx="8686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1120516843" name="Text 14"/>
          <p:cNvSpPr/>
          <p:nvPr/>
        </p:nvSpPr>
        <p:spPr bwMode="auto">
          <a:xfrm>
            <a:off x="4617720" y="1508759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i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Stored Records</a:t>
            </a:r>
            <a:endParaRPr lang="en-US" sz="800"/>
          </a:p>
        </p:txBody>
      </p:sp>
      <p:sp>
        <p:nvSpPr>
          <p:cNvPr id="2004334097" name="Shape 15"/>
          <p:cNvSpPr/>
          <p:nvPr/>
        </p:nvSpPr>
        <p:spPr bwMode="auto">
          <a:xfrm>
            <a:off x="3520440" y="1828800"/>
            <a:ext cx="0" cy="50292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</a:ln>
        </p:spPr>
      </p:sp>
      <p:sp>
        <p:nvSpPr>
          <p:cNvPr id="40991143" name="Shape 16"/>
          <p:cNvSpPr/>
          <p:nvPr/>
        </p:nvSpPr>
        <p:spPr bwMode="auto">
          <a:xfrm>
            <a:off x="2423160" y="2331720"/>
            <a:ext cx="219456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71484853" name="Text 17"/>
          <p:cNvSpPr/>
          <p:nvPr/>
        </p:nvSpPr>
        <p:spPr bwMode="auto">
          <a:xfrm>
            <a:off x="242316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 / Feedback</a:t>
            </a:r>
            <a:endParaRPr lang="en-US" sz="1100"/>
          </a:p>
        </p:txBody>
      </p:sp>
      <p:sp>
        <p:nvSpPr>
          <p:cNvPr id="1089617252" name="Text 18"/>
          <p:cNvSpPr/>
          <p:nvPr/>
        </p:nvSpPr>
        <p:spPr bwMode="auto">
          <a:xfrm>
            <a:off x="914400" y="24048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43A047"/>
                </a:solidFill>
                <a:latin typeface="Calibri"/>
                <a:ea typeface="Calibri"/>
                <a:cs typeface="Calibri"/>
              </a:rPr>
              <a:t>← back to Voter</a:t>
            </a:r>
            <a:endParaRPr lang="en-US" sz="900"/>
          </a:p>
        </p:txBody>
      </p:sp>
      <p:sp>
        <p:nvSpPr>
          <p:cNvPr id="1455644020" name="Shape 19"/>
          <p:cNvSpPr/>
          <p:nvPr/>
        </p:nvSpPr>
        <p:spPr bwMode="auto">
          <a:xfrm>
            <a:off x="914400" y="2578608"/>
            <a:ext cx="1508759" cy="0"/>
          </a:xfrm>
          <a:prstGeom prst="line">
            <a:avLst/>
          </a:prstGeom>
          <a:noFill/>
          <a:ln w="19050">
            <a:solidFill>
              <a:srgbClr val="43A047"/>
            </a:solidFill>
            <a:prstDash val="solid"/>
          </a:ln>
        </p:spPr>
      </p:sp>
      <p:sp>
        <p:nvSpPr>
          <p:cNvPr id="1850990407" name="Shape 20"/>
          <p:cNvSpPr/>
          <p:nvPr/>
        </p:nvSpPr>
        <p:spPr bwMode="auto">
          <a:xfrm>
            <a:off x="0" y="2971800"/>
            <a:ext cx="91440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37642302" name="Text 21"/>
          <p:cNvSpPr/>
          <p:nvPr/>
        </p:nvSpPr>
        <p:spPr bwMode="auto">
          <a:xfrm>
            <a:off x="274320" y="3035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LEVEL 1  —  Expanded Process View</a:t>
            </a:r>
            <a:endParaRPr lang="en-US" sz="1300"/>
          </a:p>
        </p:txBody>
      </p:sp>
      <p:sp>
        <p:nvSpPr>
          <p:cNvPr id="291583029" name="Text 22"/>
          <p:cNvSpPr/>
          <p:nvPr/>
        </p:nvSpPr>
        <p:spPr bwMode="auto">
          <a:xfrm>
            <a:off x="228600" y="3410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Name, Age</a:t>
            </a:r>
            <a:endParaRPr lang="en-US" sz="900"/>
          </a:p>
        </p:txBody>
      </p:sp>
      <p:sp>
        <p:nvSpPr>
          <p:cNvPr id="179236379" name="Shape 23"/>
          <p:cNvSpPr/>
          <p:nvPr/>
        </p:nvSpPr>
        <p:spPr bwMode="auto">
          <a:xfrm>
            <a:off x="1097280" y="3703320"/>
            <a:ext cx="0" cy="182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100308696" name="Shape 24"/>
          <p:cNvSpPr/>
          <p:nvPr/>
        </p:nvSpPr>
        <p:spPr bwMode="auto">
          <a:xfrm>
            <a:off x="228600" y="3886200"/>
            <a:ext cx="1920240" cy="86868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0526411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4005072"/>
            <a:ext cx="347472" cy="347472"/>
          </a:xfrm>
          <a:prstGeom prst="rect">
            <a:avLst/>
          </a:prstGeom>
        </p:spPr>
      </p:pic>
      <p:sp>
        <p:nvSpPr>
          <p:cNvPr id="1167590403" name="Text 25"/>
          <p:cNvSpPr/>
          <p:nvPr/>
        </p:nvSpPr>
        <p:spPr bwMode="auto">
          <a:xfrm>
            <a:off x="731520" y="38862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Register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Voter</a:t>
            </a:r>
            <a:endParaRPr lang="en-US" sz="1100"/>
          </a:p>
        </p:txBody>
      </p:sp>
      <p:sp>
        <p:nvSpPr>
          <p:cNvPr id="1711643073" name="Shape 26"/>
          <p:cNvSpPr/>
          <p:nvPr/>
        </p:nvSpPr>
        <p:spPr bwMode="auto">
          <a:xfrm>
            <a:off x="1097280" y="4754880"/>
            <a:ext cx="0" cy="164592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752979785" name="Text 27"/>
          <p:cNvSpPr/>
          <p:nvPr/>
        </p:nvSpPr>
        <p:spPr bwMode="auto">
          <a:xfrm>
            <a:off x="228600" y="4892039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Voter Record → DB</a:t>
            </a:r>
            <a:endParaRPr lang="en-US" sz="900"/>
          </a:p>
        </p:txBody>
      </p:sp>
      <p:sp>
        <p:nvSpPr>
          <p:cNvPr id="1801371970" name="Shape 28"/>
          <p:cNvSpPr/>
          <p:nvPr/>
        </p:nvSpPr>
        <p:spPr bwMode="auto">
          <a:xfrm>
            <a:off x="2148840" y="4315968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22289450" name="Text 29"/>
          <p:cNvSpPr/>
          <p:nvPr/>
        </p:nvSpPr>
        <p:spPr bwMode="auto">
          <a:xfrm>
            <a:off x="2441448" y="3410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Secret Key</a:t>
            </a:r>
            <a:endParaRPr lang="en-US" sz="900"/>
          </a:p>
        </p:txBody>
      </p:sp>
      <p:sp>
        <p:nvSpPr>
          <p:cNvPr id="1312829385" name="Shape 30"/>
          <p:cNvSpPr/>
          <p:nvPr/>
        </p:nvSpPr>
        <p:spPr bwMode="auto">
          <a:xfrm>
            <a:off x="3310127" y="3703320"/>
            <a:ext cx="0" cy="182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014580913" name="Shape 31"/>
          <p:cNvSpPr/>
          <p:nvPr/>
        </p:nvSpPr>
        <p:spPr bwMode="auto">
          <a:xfrm>
            <a:off x="2441448" y="3886200"/>
            <a:ext cx="1920240" cy="868680"/>
          </a:xfrm>
          <a:prstGeom prst="ellipse">
            <a:avLst/>
          </a:prstGeom>
          <a:solidFill>
            <a:srgbClr val="FB8C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6687716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78608" y="4005072"/>
            <a:ext cx="347472" cy="347472"/>
          </a:xfrm>
          <a:prstGeom prst="rect">
            <a:avLst/>
          </a:prstGeom>
        </p:spPr>
      </p:pic>
      <p:sp>
        <p:nvSpPr>
          <p:cNvPr id="698045323" name="Text 32"/>
          <p:cNvSpPr/>
          <p:nvPr/>
        </p:nvSpPr>
        <p:spPr bwMode="auto">
          <a:xfrm>
            <a:off x="2944368" y="38862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Validate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Voter</a:t>
            </a:r>
            <a:endParaRPr lang="en-US" sz="1100"/>
          </a:p>
        </p:txBody>
      </p:sp>
      <p:sp>
        <p:nvSpPr>
          <p:cNvPr id="202770416" name="Shape 33"/>
          <p:cNvSpPr/>
          <p:nvPr/>
        </p:nvSpPr>
        <p:spPr bwMode="auto">
          <a:xfrm>
            <a:off x="3310127" y="4754880"/>
            <a:ext cx="0" cy="164592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957372182" name="Text 34"/>
          <p:cNvSpPr/>
          <p:nvPr/>
        </p:nvSpPr>
        <p:spPr bwMode="auto">
          <a:xfrm>
            <a:off x="2441448" y="4892039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Auth Result</a:t>
            </a:r>
            <a:endParaRPr lang="en-US" sz="900"/>
          </a:p>
        </p:txBody>
      </p:sp>
      <p:sp>
        <p:nvSpPr>
          <p:cNvPr id="689476367" name="Shape 35"/>
          <p:cNvSpPr/>
          <p:nvPr/>
        </p:nvSpPr>
        <p:spPr bwMode="auto">
          <a:xfrm>
            <a:off x="4361688" y="4315968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73811991" name="Text 36"/>
          <p:cNvSpPr/>
          <p:nvPr/>
        </p:nvSpPr>
        <p:spPr bwMode="auto">
          <a:xfrm>
            <a:off x="4654296" y="3410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Candidate ID</a:t>
            </a:r>
            <a:endParaRPr lang="en-US" sz="900"/>
          </a:p>
        </p:txBody>
      </p:sp>
      <p:sp>
        <p:nvSpPr>
          <p:cNvPr id="2063666663" name="Shape 37"/>
          <p:cNvSpPr/>
          <p:nvPr/>
        </p:nvSpPr>
        <p:spPr bwMode="auto">
          <a:xfrm>
            <a:off x="5522976" y="3703320"/>
            <a:ext cx="0" cy="182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845805979" name="Shape 38"/>
          <p:cNvSpPr/>
          <p:nvPr/>
        </p:nvSpPr>
        <p:spPr bwMode="auto">
          <a:xfrm>
            <a:off x="4654296" y="3886200"/>
            <a:ext cx="1920240" cy="868680"/>
          </a:xfrm>
          <a:prstGeom prst="ellipse">
            <a:avLst/>
          </a:prstGeom>
          <a:solidFill>
            <a:srgbClr val="7B1FA2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3221236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791456" y="4005072"/>
            <a:ext cx="347472" cy="347472"/>
          </a:xfrm>
          <a:prstGeom prst="rect">
            <a:avLst/>
          </a:prstGeom>
        </p:spPr>
      </p:pic>
      <p:sp>
        <p:nvSpPr>
          <p:cNvPr id="640288920" name="Text 39"/>
          <p:cNvSpPr/>
          <p:nvPr/>
        </p:nvSpPr>
        <p:spPr bwMode="auto">
          <a:xfrm>
            <a:off x="5157216" y="38862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Cast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Vote</a:t>
            </a:r>
            <a:endParaRPr lang="en-US" sz="1100"/>
          </a:p>
        </p:txBody>
      </p:sp>
      <p:sp>
        <p:nvSpPr>
          <p:cNvPr id="787536134" name="Shape 40"/>
          <p:cNvSpPr/>
          <p:nvPr/>
        </p:nvSpPr>
        <p:spPr bwMode="auto">
          <a:xfrm>
            <a:off x="5522976" y="4754880"/>
            <a:ext cx="0" cy="164592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1835600804" name="Text 41"/>
          <p:cNvSpPr/>
          <p:nvPr/>
        </p:nvSpPr>
        <p:spPr bwMode="auto">
          <a:xfrm>
            <a:off x="4654296" y="4892039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Vote → DB</a:t>
            </a:r>
            <a:endParaRPr lang="en-US" sz="900"/>
          </a:p>
        </p:txBody>
      </p:sp>
      <p:sp>
        <p:nvSpPr>
          <p:cNvPr id="1360016693" name="Shape 42"/>
          <p:cNvSpPr/>
          <p:nvPr/>
        </p:nvSpPr>
        <p:spPr bwMode="auto">
          <a:xfrm>
            <a:off x="6574536" y="4315968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73069375" name="Text 43"/>
          <p:cNvSpPr/>
          <p:nvPr/>
        </p:nvSpPr>
        <p:spPr bwMode="auto">
          <a:xfrm>
            <a:off x="6867144" y="3410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Query DB</a:t>
            </a:r>
            <a:endParaRPr lang="en-US" sz="900"/>
          </a:p>
        </p:txBody>
      </p:sp>
      <p:sp>
        <p:nvSpPr>
          <p:cNvPr id="1439410285" name="Shape 44"/>
          <p:cNvSpPr/>
          <p:nvPr/>
        </p:nvSpPr>
        <p:spPr bwMode="auto">
          <a:xfrm>
            <a:off x="7735823" y="3703320"/>
            <a:ext cx="0" cy="182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587170045" name="Shape 45"/>
          <p:cNvSpPr/>
          <p:nvPr/>
        </p:nvSpPr>
        <p:spPr bwMode="auto">
          <a:xfrm>
            <a:off x="6867144" y="3886200"/>
            <a:ext cx="1920240" cy="868680"/>
          </a:xfrm>
          <a:prstGeom prst="ellipse">
            <a:avLst/>
          </a:prstGeom>
          <a:solidFill>
            <a:srgbClr val="43A04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9278997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04304" y="4005072"/>
            <a:ext cx="347472" cy="347472"/>
          </a:xfrm>
          <a:prstGeom prst="rect">
            <a:avLst/>
          </a:prstGeom>
        </p:spPr>
      </p:pic>
      <p:sp>
        <p:nvSpPr>
          <p:cNvPr id="362229891" name="Text 46"/>
          <p:cNvSpPr/>
          <p:nvPr/>
        </p:nvSpPr>
        <p:spPr bwMode="auto">
          <a:xfrm>
            <a:off x="7370064" y="38862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Show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</a:t>
            </a:r>
            <a:endParaRPr lang="en-US" sz="1100"/>
          </a:p>
        </p:txBody>
      </p:sp>
      <p:sp>
        <p:nvSpPr>
          <p:cNvPr id="1256414629" name="Shape 47"/>
          <p:cNvSpPr/>
          <p:nvPr/>
        </p:nvSpPr>
        <p:spPr bwMode="auto">
          <a:xfrm>
            <a:off x="7735823" y="4754880"/>
            <a:ext cx="0" cy="164592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882999950" name="Text 48"/>
          <p:cNvSpPr/>
          <p:nvPr/>
        </p:nvSpPr>
        <p:spPr bwMode="auto">
          <a:xfrm>
            <a:off x="6867144" y="4892039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Standings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0F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819350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89014469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HARDWARE / SOFTWARE REQUIREMENTS</a:t>
            </a:r>
            <a:endParaRPr lang="en-US" sz="1400"/>
          </a:p>
        </p:txBody>
      </p:sp>
      <p:sp>
        <p:nvSpPr>
          <p:cNvPr id="514981815" name="Text 2"/>
          <p:cNvSpPr/>
          <p:nvPr/>
        </p:nvSpPr>
        <p:spPr bwMode="auto"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System Requirements</a:t>
            </a:r>
            <a:endParaRPr lang="en-US" sz="2000"/>
          </a:p>
        </p:txBody>
      </p:sp>
      <p:sp>
        <p:nvSpPr>
          <p:cNvPr id="2090347046" name="Shape 3"/>
          <p:cNvSpPr/>
          <p:nvPr/>
        </p:nvSpPr>
        <p:spPr bwMode="auto">
          <a:xfrm>
            <a:off x="274320" y="10972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59230151" name="Shape 4"/>
          <p:cNvSpPr/>
          <p:nvPr/>
        </p:nvSpPr>
        <p:spPr bwMode="auto">
          <a:xfrm>
            <a:off x="274320" y="1097280"/>
            <a:ext cx="40233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91046660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179576"/>
            <a:ext cx="329184" cy="329184"/>
          </a:xfrm>
          <a:prstGeom prst="rect">
            <a:avLst/>
          </a:prstGeom>
        </p:spPr>
      </p:pic>
      <p:sp>
        <p:nvSpPr>
          <p:cNvPr id="949764412" name="Text 5"/>
          <p:cNvSpPr/>
          <p:nvPr/>
        </p:nvSpPr>
        <p:spPr bwMode="auto">
          <a:xfrm>
            <a:off x="777240" y="1097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Hardware Requirements</a:t>
            </a:r>
            <a:endParaRPr lang="en-US" sz="1300"/>
          </a:p>
        </p:txBody>
      </p:sp>
      <p:sp>
        <p:nvSpPr>
          <p:cNvPr id="86635540" name="Shape 6"/>
          <p:cNvSpPr/>
          <p:nvPr/>
        </p:nvSpPr>
        <p:spPr bwMode="auto">
          <a:xfrm>
            <a:off x="457200" y="1755648"/>
            <a:ext cx="365760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94168731" name="Text 7"/>
          <p:cNvSpPr/>
          <p:nvPr/>
        </p:nvSpPr>
        <p:spPr bwMode="auto">
          <a:xfrm>
            <a:off x="640080" y="17556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Computer or Laptop</a:t>
            </a:r>
            <a:endParaRPr lang="en-US" sz="1300"/>
          </a:p>
        </p:txBody>
      </p:sp>
      <p:sp>
        <p:nvSpPr>
          <p:cNvPr id="1599466046" name="Shape 8"/>
          <p:cNvSpPr/>
          <p:nvPr/>
        </p:nvSpPr>
        <p:spPr bwMode="auto">
          <a:xfrm>
            <a:off x="457200" y="2441448"/>
            <a:ext cx="365760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839318995" name="Text 9"/>
          <p:cNvSpPr/>
          <p:nvPr/>
        </p:nvSpPr>
        <p:spPr bwMode="auto">
          <a:xfrm>
            <a:off x="640080" y="24414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Minimum 4 GB RAM</a:t>
            </a:r>
            <a:endParaRPr lang="en-US" sz="1300"/>
          </a:p>
        </p:txBody>
      </p:sp>
      <p:sp>
        <p:nvSpPr>
          <p:cNvPr id="366892024" name="Shape 10"/>
          <p:cNvSpPr/>
          <p:nvPr/>
        </p:nvSpPr>
        <p:spPr bwMode="auto">
          <a:xfrm>
            <a:off x="457200" y="3127248"/>
            <a:ext cx="365760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266575364" name="Text 11"/>
          <p:cNvSpPr/>
          <p:nvPr/>
        </p:nvSpPr>
        <p:spPr bwMode="auto">
          <a:xfrm>
            <a:off x="640080" y="31272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Keyboard &amp; Monitor</a:t>
            </a:r>
            <a:endParaRPr lang="en-US" sz="1300"/>
          </a:p>
        </p:txBody>
      </p:sp>
      <p:sp>
        <p:nvSpPr>
          <p:cNvPr id="626395670" name="Shape 12"/>
          <p:cNvSpPr/>
          <p:nvPr/>
        </p:nvSpPr>
        <p:spPr bwMode="auto">
          <a:xfrm>
            <a:off x="4663440" y="109728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34476682" name="Shape 13"/>
          <p:cNvSpPr/>
          <p:nvPr/>
        </p:nvSpPr>
        <p:spPr bwMode="auto">
          <a:xfrm>
            <a:off x="4663440" y="1097280"/>
            <a:ext cx="420624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13569836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54880" y="1179576"/>
            <a:ext cx="329184" cy="329184"/>
          </a:xfrm>
          <a:prstGeom prst="rect">
            <a:avLst/>
          </a:prstGeom>
        </p:spPr>
      </p:pic>
      <p:sp>
        <p:nvSpPr>
          <p:cNvPr id="1088073595" name="Text 14"/>
          <p:cNvSpPr/>
          <p:nvPr/>
        </p:nvSpPr>
        <p:spPr bwMode="auto">
          <a:xfrm>
            <a:off x="516636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Software Requirements</a:t>
            </a:r>
            <a:endParaRPr lang="en-US" sz="1300"/>
          </a:p>
        </p:txBody>
      </p:sp>
      <p:sp>
        <p:nvSpPr>
          <p:cNvPr id="1248698655" name="Shape 15"/>
          <p:cNvSpPr/>
          <p:nvPr/>
        </p:nvSpPr>
        <p:spPr bwMode="auto">
          <a:xfrm>
            <a:off x="4828032" y="1755648"/>
            <a:ext cx="3858768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312013324" name="Text 16"/>
          <p:cNvSpPr/>
          <p:nvPr/>
        </p:nvSpPr>
        <p:spPr bwMode="auto">
          <a:xfrm>
            <a:off x="5010912" y="17556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OS: Windows / Linux / macOS</a:t>
            </a:r>
            <a:endParaRPr lang="en-US" sz="1300"/>
          </a:p>
        </p:txBody>
      </p:sp>
      <p:sp>
        <p:nvSpPr>
          <p:cNvPr id="1723220721" name="Shape 17"/>
          <p:cNvSpPr/>
          <p:nvPr/>
        </p:nvSpPr>
        <p:spPr bwMode="auto">
          <a:xfrm>
            <a:off x="4828032" y="2441448"/>
            <a:ext cx="3858768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643692093" name="Text 18"/>
          <p:cNvSpPr/>
          <p:nvPr/>
        </p:nvSpPr>
        <p:spPr bwMode="auto">
          <a:xfrm>
            <a:off x="5010912" y="24414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Python 3.x (Programming Language)</a:t>
            </a:r>
            <a:endParaRPr lang="en-US" sz="1300"/>
          </a:p>
        </p:txBody>
      </p:sp>
      <p:sp>
        <p:nvSpPr>
          <p:cNvPr id="1233804060" name="Shape 19"/>
          <p:cNvSpPr/>
          <p:nvPr/>
        </p:nvSpPr>
        <p:spPr bwMode="auto">
          <a:xfrm>
            <a:off x="4828032" y="3127248"/>
            <a:ext cx="3858768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323246722" name="Text 20"/>
          <p:cNvSpPr/>
          <p:nvPr/>
        </p:nvSpPr>
        <p:spPr bwMode="auto">
          <a:xfrm>
            <a:off x="5010912" y="31272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SQLite / MySQL (Database)</a:t>
            </a:r>
            <a:endParaRPr lang="en-US" sz="1300"/>
          </a:p>
        </p:txBody>
      </p:sp>
      <p:sp>
        <p:nvSpPr>
          <p:cNvPr id="543287587" name="Shape 21"/>
          <p:cNvSpPr/>
          <p:nvPr/>
        </p:nvSpPr>
        <p:spPr bwMode="auto">
          <a:xfrm>
            <a:off x="4828032" y="3813048"/>
            <a:ext cx="3858768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010164006" name="Text 22"/>
          <p:cNvSpPr/>
          <p:nvPr/>
        </p:nvSpPr>
        <p:spPr bwMode="auto">
          <a:xfrm>
            <a:off x="5010912" y="38130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VS Code / Notepad++ (Editor)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2649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31676946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&amp; DISCUSSION</a:t>
            </a:r>
            <a:endParaRPr lang="en-US" sz="1400"/>
          </a:p>
        </p:txBody>
      </p:sp>
      <p:sp>
        <p:nvSpPr>
          <p:cNvPr id="1142693043" name="Text 2"/>
          <p:cNvSpPr/>
          <p:nvPr/>
        </p:nvSpPr>
        <p:spPr bwMode="auto"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the System Delivers</a:t>
            </a:r>
            <a:endParaRPr lang="en-US" sz="2000"/>
          </a:p>
        </p:txBody>
      </p:sp>
      <p:sp>
        <p:nvSpPr>
          <p:cNvPr id="866604114" name="Shape 3"/>
          <p:cNvSpPr/>
          <p:nvPr/>
        </p:nvSpPr>
        <p:spPr bwMode="auto">
          <a:xfrm>
            <a:off x="274320" y="1143000"/>
            <a:ext cx="2743200" cy="34747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08816878" name="Shape 4"/>
          <p:cNvSpPr/>
          <p:nvPr/>
        </p:nvSpPr>
        <p:spPr bwMode="auto">
          <a:xfrm>
            <a:off x="1280160" y="1234440"/>
            <a:ext cx="731520" cy="7315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2792319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71600" y="1344168"/>
            <a:ext cx="548640" cy="548640"/>
          </a:xfrm>
          <a:prstGeom prst="rect">
            <a:avLst/>
          </a:prstGeom>
        </p:spPr>
      </p:pic>
      <p:sp>
        <p:nvSpPr>
          <p:cNvPr id="69461911" name="Text 5"/>
          <p:cNvSpPr/>
          <p:nvPr/>
        </p:nvSpPr>
        <p:spPr bwMode="auto">
          <a:xfrm>
            <a:off x="3657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System Performance</a:t>
            </a:r>
            <a:endParaRPr lang="en-US" sz="1300"/>
          </a:p>
        </p:txBody>
      </p:sp>
      <p:sp>
        <p:nvSpPr>
          <p:cNvPr id="1134141034" name="Text 6"/>
          <p:cNvSpPr/>
          <p:nvPr/>
        </p:nvSpPr>
        <p:spPr bwMode="auto">
          <a:xfrm>
            <a:off x="438912" y="26334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Voting process is fast and accurate</a:t>
            </a:r>
            <a:endParaRPr lang="en-US" sz="1200"/>
          </a:p>
        </p:txBody>
      </p:sp>
      <p:sp>
        <p:nvSpPr>
          <p:cNvPr id="2138937643" name="Text 7"/>
          <p:cNvSpPr/>
          <p:nvPr/>
        </p:nvSpPr>
        <p:spPr bwMode="auto">
          <a:xfrm>
            <a:off x="438912" y="32552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 generated instantly after polling</a:t>
            </a:r>
            <a:endParaRPr lang="en-US" sz="1200"/>
          </a:p>
        </p:txBody>
      </p:sp>
      <p:sp>
        <p:nvSpPr>
          <p:cNvPr id="1123377624" name="Shape 8"/>
          <p:cNvSpPr/>
          <p:nvPr/>
        </p:nvSpPr>
        <p:spPr bwMode="auto">
          <a:xfrm>
            <a:off x="3246120" y="1143000"/>
            <a:ext cx="2743200" cy="34747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76073225" name="Shape 9"/>
          <p:cNvSpPr/>
          <p:nvPr/>
        </p:nvSpPr>
        <p:spPr bwMode="auto">
          <a:xfrm>
            <a:off x="4251960" y="123444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1782140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343400" y="1344168"/>
            <a:ext cx="548640" cy="548640"/>
          </a:xfrm>
          <a:prstGeom prst="rect">
            <a:avLst/>
          </a:prstGeom>
        </p:spPr>
      </p:pic>
      <p:sp>
        <p:nvSpPr>
          <p:cNvPr id="1468945136" name="Text 10"/>
          <p:cNvSpPr/>
          <p:nvPr/>
        </p:nvSpPr>
        <p:spPr bwMode="auto">
          <a:xfrm>
            <a:off x="33375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43A047"/>
                </a:solidFill>
                <a:latin typeface="Calibri"/>
                <a:ea typeface="Calibri"/>
                <a:cs typeface="Calibri"/>
              </a:rPr>
              <a:t>Security &amp; Reliability</a:t>
            </a:r>
            <a:endParaRPr lang="en-US" sz="1300"/>
          </a:p>
        </p:txBody>
      </p:sp>
      <p:sp>
        <p:nvSpPr>
          <p:cNvPr id="1940987009" name="Text 11"/>
          <p:cNvSpPr/>
          <p:nvPr/>
        </p:nvSpPr>
        <p:spPr bwMode="auto">
          <a:xfrm>
            <a:off x="3410712" y="26334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Prevents duplicate voting via primary key</a:t>
            </a:r>
            <a:endParaRPr lang="en-US" sz="1200"/>
          </a:p>
        </p:txBody>
      </p:sp>
      <p:sp>
        <p:nvSpPr>
          <p:cNvPr id="1612607781" name="Text 12"/>
          <p:cNvSpPr/>
          <p:nvPr/>
        </p:nvSpPr>
        <p:spPr bwMode="auto">
          <a:xfrm>
            <a:off x="3410712" y="32552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Voter data stored securely in SQLite</a:t>
            </a:r>
            <a:endParaRPr lang="en-US" sz="1200"/>
          </a:p>
        </p:txBody>
      </p:sp>
      <p:sp>
        <p:nvSpPr>
          <p:cNvPr id="1453612186" name="Shape 13"/>
          <p:cNvSpPr/>
          <p:nvPr/>
        </p:nvSpPr>
        <p:spPr bwMode="auto">
          <a:xfrm>
            <a:off x="6217920" y="1143000"/>
            <a:ext cx="2743200" cy="34747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16890405" name="Shape 14"/>
          <p:cNvSpPr/>
          <p:nvPr/>
        </p:nvSpPr>
        <p:spPr bwMode="auto">
          <a:xfrm>
            <a:off x="7223760" y="1234440"/>
            <a:ext cx="731520" cy="7315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67161203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315200" y="1344168"/>
            <a:ext cx="548640" cy="548640"/>
          </a:xfrm>
          <a:prstGeom prst="rect">
            <a:avLst/>
          </a:prstGeom>
        </p:spPr>
      </p:pic>
      <p:sp>
        <p:nvSpPr>
          <p:cNvPr id="2026854730" name="Text 15"/>
          <p:cNvSpPr/>
          <p:nvPr/>
        </p:nvSpPr>
        <p:spPr bwMode="auto">
          <a:xfrm>
            <a:off x="63093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0897B"/>
                </a:solidFill>
                <a:latin typeface="Calibri"/>
                <a:ea typeface="Calibri"/>
                <a:cs typeface="Calibri"/>
              </a:rPr>
              <a:t>Key Advantages</a:t>
            </a:r>
            <a:endParaRPr lang="en-US" sz="1300"/>
          </a:p>
        </p:txBody>
      </p:sp>
      <p:sp>
        <p:nvSpPr>
          <p:cNvPr id="1697602169" name="Text 16"/>
          <p:cNvSpPr/>
          <p:nvPr/>
        </p:nvSpPr>
        <p:spPr bwMode="auto">
          <a:xfrm>
            <a:off x="6382512" y="26334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Easy to use and deploy anywhere</a:t>
            </a:r>
            <a:endParaRPr lang="en-US" sz="1200"/>
          </a:p>
        </p:txBody>
      </p:sp>
      <p:sp>
        <p:nvSpPr>
          <p:cNvPr id="694016249" name="Text 17"/>
          <p:cNvSpPr/>
          <p:nvPr/>
        </p:nvSpPr>
        <p:spPr bwMode="auto">
          <a:xfrm>
            <a:off x="6382512" y="32552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Reduces manual errors significantly</a:t>
            </a:r>
            <a:endParaRPr lang="en-US" sz="1200"/>
          </a:p>
        </p:txBody>
      </p:sp>
      <p:sp>
        <p:nvSpPr>
          <p:cNvPr id="1692557269" name="Text 18"/>
          <p:cNvSpPr/>
          <p:nvPr/>
        </p:nvSpPr>
        <p:spPr bwMode="auto">
          <a:xfrm>
            <a:off x="6382512" y="387705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Saves time and effort in counting</a:t>
            </a:r>
            <a:endParaRPr lang="en-US" sz="1200"/>
          </a:p>
        </p:txBody>
      </p:sp>
      <p:sp>
        <p:nvSpPr>
          <p:cNvPr id="774789079" name="Shape 19"/>
          <p:cNvSpPr/>
          <p:nvPr/>
        </p:nvSpPr>
        <p:spPr bwMode="auto">
          <a:xfrm>
            <a:off x="0" y="4663440"/>
            <a:ext cx="9144000" cy="4800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153208301" name="Text 20"/>
          <p:cNvSpPr/>
          <p:nvPr/>
        </p:nvSpPr>
        <p:spPr bwMode="auto">
          <a:xfrm>
            <a:off x="365760" y="4681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100%  </a:t>
            </a:r>
            <a:r>
              <a:rPr lang="en-US" sz="12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Vote Integrity</a:t>
            </a:r>
            <a:endParaRPr lang="en-US" sz="1600"/>
          </a:p>
        </p:txBody>
      </p:sp>
      <p:sp>
        <p:nvSpPr>
          <p:cNvPr id="1824570525" name="Text 21"/>
          <p:cNvSpPr/>
          <p:nvPr/>
        </p:nvSpPr>
        <p:spPr bwMode="auto">
          <a:xfrm>
            <a:off x="2606040" y="4681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0  </a:t>
            </a:r>
            <a:r>
              <a:rPr lang="en-US" sz="12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Duplicate Votes</a:t>
            </a:r>
            <a:endParaRPr lang="en-US" sz="1600"/>
          </a:p>
        </p:txBody>
      </p:sp>
      <p:sp>
        <p:nvSpPr>
          <p:cNvPr id="269759890" name="Text 22"/>
          <p:cNvSpPr/>
          <p:nvPr/>
        </p:nvSpPr>
        <p:spPr bwMode="auto">
          <a:xfrm>
            <a:off x="4846320" y="4681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Instant  </a:t>
            </a:r>
            <a:r>
              <a:rPr lang="en-US" sz="12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Result Display</a:t>
            </a:r>
            <a:endParaRPr lang="en-US" sz="1600"/>
          </a:p>
        </p:txBody>
      </p:sp>
      <p:sp>
        <p:nvSpPr>
          <p:cNvPr id="1791234901" name="Text 23"/>
          <p:cNvSpPr/>
          <p:nvPr/>
        </p:nvSpPr>
        <p:spPr bwMode="auto">
          <a:xfrm>
            <a:off x="7086600" y="4681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SQLite  </a:t>
            </a:r>
            <a:r>
              <a:rPr lang="en-US" sz="12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Storage Engine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8159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3906854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 &amp; FUTURE WORK</a:t>
            </a:r>
            <a:endParaRPr lang="en-US" sz="1400"/>
          </a:p>
        </p:txBody>
      </p:sp>
      <p:sp>
        <p:nvSpPr>
          <p:cNvPr id="1337431089" name="Text 2"/>
          <p:cNvSpPr/>
          <p:nvPr/>
        </p:nvSpPr>
        <p:spPr bwMode="auto"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Summary &amp; Road Ahead</a:t>
            </a:r>
            <a:endParaRPr lang="en-US" sz="2000"/>
          </a:p>
        </p:txBody>
      </p:sp>
      <p:sp>
        <p:nvSpPr>
          <p:cNvPr id="98055011" name="Shape 3"/>
          <p:cNvSpPr/>
          <p:nvPr/>
        </p:nvSpPr>
        <p:spPr bwMode="auto">
          <a:xfrm>
            <a:off x="274320" y="1097280"/>
            <a:ext cx="4023360" cy="352044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72497320" name="Shape 4"/>
          <p:cNvSpPr/>
          <p:nvPr/>
        </p:nvSpPr>
        <p:spPr bwMode="auto">
          <a:xfrm>
            <a:off x="274320" y="1097280"/>
            <a:ext cx="40233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93511015" name="Text 5"/>
          <p:cNvSpPr/>
          <p:nvPr/>
        </p:nvSpPr>
        <p:spPr bwMode="auto">
          <a:xfrm>
            <a:off x="27432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1300"/>
          </a:p>
        </p:txBody>
      </p:sp>
      <p:pic>
        <p:nvPicPr>
          <p:cNvPr id="121528504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1480" y="1719072"/>
            <a:ext cx="292608" cy="292608"/>
          </a:xfrm>
          <a:prstGeom prst="rect">
            <a:avLst/>
          </a:prstGeom>
        </p:spPr>
      </p:pic>
      <p:sp>
        <p:nvSpPr>
          <p:cNvPr id="208584234" name="Text 6"/>
          <p:cNvSpPr/>
          <p:nvPr/>
        </p:nvSpPr>
        <p:spPr bwMode="auto">
          <a:xfrm>
            <a:off x="777240" y="16733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Built a simple and secure voting system in Python</a:t>
            </a:r>
            <a:endParaRPr lang="en-US" sz="1200"/>
          </a:p>
        </p:txBody>
      </p:sp>
      <p:pic>
        <p:nvPicPr>
          <p:cNvPr id="213194069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11480" y="2404872"/>
            <a:ext cx="292608" cy="292608"/>
          </a:xfrm>
          <a:prstGeom prst="rect">
            <a:avLst/>
          </a:prstGeom>
        </p:spPr>
      </p:pic>
      <p:sp>
        <p:nvSpPr>
          <p:cNvPr id="1711187462" name="Text 7"/>
          <p:cNvSpPr/>
          <p:nvPr/>
        </p:nvSpPr>
        <p:spPr bwMode="auto">
          <a:xfrm>
            <a:off x="777240" y="23591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Enforces one-vote-per-voter rule using SQL constraints</a:t>
            </a:r>
            <a:endParaRPr lang="en-US" sz="1200"/>
          </a:p>
        </p:txBody>
      </p:sp>
      <p:pic>
        <p:nvPicPr>
          <p:cNvPr id="74480815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11480" y="3090672"/>
            <a:ext cx="292608" cy="292608"/>
          </a:xfrm>
          <a:prstGeom prst="rect">
            <a:avLst/>
          </a:prstGeom>
        </p:spPr>
      </p:pic>
      <p:sp>
        <p:nvSpPr>
          <p:cNvPr id="1685034653" name="Text 8"/>
          <p:cNvSpPr/>
          <p:nvPr/>
        </p:nvSpPr>
        <p:spPr bwMode="auto">
          <a:xfrm>
            <a:off x="777240" y="30449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Provides fast and accurate vote tallying</a:t>
            </a:r>
            <a:endParaRPr lang="en-US" sz="1200"/>
          </a:p>
        </p:txBody>
      </p:sp>
      <p:pic>
        <p:nvPicPr>
          <p:cNvPr id="2132120923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11480" y="3776472"/>
            <a:ext cx="292608" cy="292608"/>
          </a:xfrm>
          <a:prstGeom prst="rect">
            <a:avLst/>
          </a:prstGeom>
        </p:spPr>
      </p:pic>
      <p:sp>
        <p:nvSpPr>
          <p:cNvPr id="1190292447" name="Text 9"/>
          <p:cNvSpPr/>
          <p:nvPr/>
        </p:nvSpPr>
        <p:spPr bwMode="auto">
          <a:xfrm>
            <a:off x="777240" y="37307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Demonstrates practical DB + programming integration</a:t>
            </a:r>
            <a:endParaRPr lang="en-US" sz="1200"/>
          </a:p>
        </p:txBody>
      </p:sp>
      <p:sp>
        <p:nvSpPr>
          <p:cNvPr id="657567445" name="Shape 10"/>
          <p:cNvSpPr/>
          <p:nvPr/>
        </p:nvSpPr>
        <p:spPr bwMode="auto">
          <a:xfrm>
            <a:off x="4663440" y="1097280"/>
            <a:ext cx="4206240" cy="352044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11706460" name="Shape 11"/>
          <p:cNvSpPr/>
          <p:nvPr/>
        </p:nvSpPr>
        <p:spPr bwMode="auto">
          <a:xfrm>
            <a:off x="4663440" y="1097280"/>
            <a:ext cx="42062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03665104" name="Text 12"/>
          <p:cNvSpPr/>
          <p:nvPr/>
        </p:nvSpPr>
        <p:spPr bwMode="auto">
          <a:xfrm>
            <a:off x="4663440" y="1097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SCOPE</a:t>
            </a:r>
            <a:endParaRPr lang="en-US" sz="1300"/>
          </a:p>
        </p:txBody>
      </p:sp>
      <p:sp>
        <p:nvSpPr>
          <p:cNvPr id="2035396063" name="Shape 13"/>
          <p:cNvSpPr/>
          <p:nvPr/>
        </p:nvSpPr>
        <p:spPr bwMode="auto">
          <a:xfrm>
            <a:off x="4828032" y="1691640"/>
            <a:ext cx="3858768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07286055" name="Text 14"/>
          <p:cNvSpPr/>
          <p:nvPr/>
        </p:nvSpPr>
        <p:spPr bwMode="auto">
          <a:xfrm>
            <a:off x="4919471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GUI Interface: </a:t>
            </a:r>
            <a:endParaRPr lang="en-US" sz="1200"/>
          </a:p>
        </p:txBody>
      </p:sp>
      <p:sp>
        <p:nvSpPr>
          <p:cNvPr id="2141739717" name="Text 15"/>
          <p:cNvSpPr/>
          <p:nvPr/>
        </p:nvSpPr>
        <p:spPr bwMode="auto">
          <a:xfrm>
            <a:off x="621792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 Tkinter or web-based front-end</a:t>
            </a:r>
            <a:endParaRPr lang="en-US" sz="1100"/>
          </a:p>
        </p:txBody>
      </p:sp>
      <p:sp>
        <p:nvSpPr>
          <p:cNvPr id="484577756" name="Shape 16"/>
          <p:cNvSpPr/>
          <p:nvPr/>
        </p:nvSpPr>
        <p:spPr bwMode="auto">
          <a:xfrm>
            <a:off x="4828032" y="2377440"/>
            <a:ext cx="3858768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93628543" name="Text 17"/>
          <p:cNvSpPr/>
          <p:nvPr/>
        </p:nvSpPr>
        <p:spPr bwMode="auto">
          <a:xfrm>
            <a:off x="4919471" y="2377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Online Voting: </a:t>
            </a:r>
            <a:endParaRPr lang="en-US" sz="1200"/>
          </a:p>
        </p:txBody>
      </p:sp>
      <p:sp>
        <p:nvSpPr>
          <p:cNvPr id="1234642566" name="Text 18"/>
          <p:cNvSpPr/>
          <p:nvPr/>
        </p:nvSpPr>
        <p:spPr bwMode="auto">
          <a:xfrm>
            <a:off x="621792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 remote voting via web APIs</a:t>
            </a:r>
            <a:endParaRPr lang="en-US" sz="1100"/>
          </a:p>
        </p:txBody>
      </p:sp>
      <p:sp>
        <p:nvSpPr>
          <p:cNvPr id="1545309998" name="Shape 19"/>
          <p:cNvSpPr/>
          <p:nvPr/>
        </p:nvSpPr>
        <p:spPr bwMode="auto">
          <a:xfrm>
            <a:off x="4828032" y="3063240"/>
            <a:ext cx="3858768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9838762" name="Text 20"/>
          <p:cNvSpPr/>
          <p:nvPr/>
        </p:nvSpPr>
        <p:spPr bwMode="auto">
          <a:xfrm>
            <a:off x="4919471" y="3063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Biometric Auth: </a:t>
            </a:r>
            <a:endParaRPr lang="en-US" sz="1200"/>
          </a:p>
        </p:txBody>
      </p:sp>
      <p:sp>
        <p:nvSpPr>
          <p:cNvPr id="1543609969" name="Text 21"/>
          <p:cNvSpPr/>
          <p:nvPr/>
        </p:nvSpPr>
        <p:spPr bwMode="auto">
          <a:xfrm>
            <a:off x="6217920" y="3063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Fingerprint / Face ID for verification</a:t>
            </a:r>
            <a:endParaRPr lang="en-US" sz="1100"/>
          </a:p>
        </p:txBody>
      </p:sp>
      <p:sp>
        <p:nvSpPr>
          <p:cNvPr id="546696862" name="Shape 22"/>
          <p:cNvSpPr/>
          <p:nvPr/>
        </p:nvSpPr>
        <p:spPr bwMode="auto">
          <a:xfrm>
            <a:off x="4828032" y="3749040"/>
            <a:ext cx="3858768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3656031" name="Text 23"/>
          <p:cNvSpPr/>
          <p:nvPr/>
        </p:nvSpPr>
        <p:spPr bwMode="auto">
          <a:xfrm>
            <a:off x="4919471" y="3749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Large-Scale: </a:t>
            </a:r>
            <a:endParaRPr lang="en-US" sz="1200"/>
          </a:p>
        </p:txBody>
      </p:sp>
      <p:sp>
        <p:nvSpPr>
          <p:cNvPr id="1651835953" name="Text 24"/>
          <p:cNvSpPr/>
          <p:nvPr/>
        </p:nvSpPr>
        <p:spPr bwMode="auto">
          <a:xfrm>
            <a:off x="621792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Scale to district or national elections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0F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274680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16437943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</a:t>
            </a:r>
            <a:endParaRPr lang="en-US" sz="1400"/>
          </a:p>
        </p:txBody>
      </p:sp>
      <p:sp>
        <p:nvSpPr>
          <p:cNvPr id="594830248" name="Text 2"/>
          <p:cNvSpPr/>
          <p:nvPr/>
        </p:nvSpPr>
        <p:spPr bwMode="auto"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Current Constraints of the System</a:t>
            </a:r>
            <a:endParaRPr lang="en-US" sz="2000"/>
          </a:p>
        </p:txBody>
      </p:sp>
      <p:sp>
        <p:nvSpPr>
          <p:cNvPr id="97248867" name="Shape 3"/>
          <p:cNvSpPr/>
          <p:nvPr/>
        </p:nvSpPr>
        <p:spPr bwMode="auto">
          <a:xfrm>
            <a:off x="274320" y="1097280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46195018" name="Shape 4"/>
          <p:cNvSpPr/>
          <p:nvPr/>
        </p:nvSpPr>
        <p:spPr bwMode="auto">
          <a:xfrm>
            <a:off x="274320" y="1097280"/>
            <a:ext cx="109728" cy="6400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68137950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5488" y="1252728"/>
            <a:ext cx="329184" cy="329184"/>
          </a:xfrm>
          <a:prstGeom prst="rect">
            <a:avLst/>
          </a:prstGeom>
        </p:spPr>
      </p:pic>
      <p:sp>
        <p:nvSpPr>
          <p:cNvPr id="1277914297" name="Text 5"/>
          <p:cNvSpPr/>
          <p:nvPr/>
        </p:nvSpPr>
        <p:spPr bwMode="auto">
          <a:xfrm>
            <a:off x="960120" y="1097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53935"/>
                </a:solidFill>
                <a:latin typeface="Calibri"/>
                <a:ea typeface="Calibri"/>
                <a:cs typeface="Calibri"/>
              </a:rPr>
              <a:t>Local System Only</a:t>
            </a:r>
            <a:endParaRPr lang="en-US" sz="1300"/>
          </a:p>
        </p:txBody>
      </p:sp>
      <p:sp>
        <p:nvSpPr>
          <p:cNvPr id="1557755374" name="Text 6"/>
          <p:cNvSpPr/>
          <p:nvPr/>
        </p:nvSpPr>
        <p:spPr bwMode="auto">
          <a:xfrm>
            <a:off x="3337560" y="109728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Currently runs only on a local machine; no network or cloud support</a:t>
            </a:r>
            <a:endParaRPr lang="en-US" sz="1200"/>
          </a:p>
        </p:txBody>
      </p:sp>
      <p:sp>
        <p:nvSpPr>
          <p:cNvPr id="1200943199" name="Shape 7"/>
          <p:cNvSpPr/>
          <p:nvPr/>
        </p:nvSpPr>
        <p:spPr bwMode="auto">
          <a:xfrm>
            <a:off x="274320" y="184708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53434813" name="Shape 8"/>
          <p:cNvSpPr/>
          <p:nvPr/>
        </p:nvSpPr>
        <p:spPr bwMode="auto">
          <a:xfrm>
            <a:off x="274320" y="1847088"/>
            <a:ext cx="109728" cy="6400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pic>
        <p:nvPicPr>
          <p:cNvPr id="160641031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5488" y="2002536"/>
            <a:ext cx="329184" cy="329184"/>
          </a:xfrm>
          <a:prstGeom prst="rect">
            <a:avLst/>
          </a:prstGeom>
        </p:spPr>
      </p:pic>
      <p:sp>
        <p:nvSpPr>
          <p:cNvPr id="1688883057" name="Text 9"/>
          <p:cNvSpPr/>
          <p:nvPr/>
        </p:nvSpPr>
        <p:spPr bwMode="auto">
          <a:xfrm>
            <a:off x="960120" y="18470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B8C00"/>
                </a:solidFill>
                <a:latin typeface="Calibri"/>
                <a:ea typeface="Calibri"/>
                <a:cs typeface="Calibri"/>
              </a:rPr>
              <a:t>Basic Security</a:t>
            </a:r>
            <a:endParaRPr lang="en-US" sz="1300"/>
          </a:p>
        </p:txBody>
      </p:sp>
      <p:sp>
        <p:nvSpPr>
          <p:cNvPr id="1522304944" name="Text 10"/>
          <p:cNvSpPr/>
          <p:nvPr/>
        </p:nvSpPr>
        <p:spPr bwMode="auto">
          <a:xfrm>
            <a:off x="3337560" y="1847088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Simple 4-digit key auth — no encryption or two-factor authentication</a:t>
            </a:r>
            <a:endParaRPr lang="en-US" sz="1200"/>
          </a:p>
        </p:txBody>
      </p:sp>
      <p:sp>
        <p:nvSpPr>
          <p:cNvPr id="847644441" name="Shape 11"/>
          <p:cNvSpPr/>
          <p:nvPr/>
        </p:nvSpPr>
        <p:spPr bwMode="auto">
          <a:xfrm>
            <a:off x="274320" y="2596896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32596907" name="Shape 12"/>
          <p:cNvSpPr/>
          <p:nvPr/>
        </p:nvSpPr>
        <p:spPr bwMode="auto">
          <a:xfrm>
            <a:off x="274320" y="2596896"/>
            <a:ext cx="109728" cy="6400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pic>
        <p:nvPicPr>
          <p:cNvPr id="58969364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75488" y="2752343"/>
            <a:ext cx="329184" cy="329184"/>
          </a:xfrm>
          <a:prstGeom prst="rect">
            <a:avLst/>
          </a:prstGeom>
        </p:spPr>
      </p:pic>
      <p:sp>
        <p:nvSpPr>
          <p:cNvPr id="289635671" name="Text 13"/>
          <p:cNvSpPr/>
          <p:nvPr/>
        </p:nvSpPr>
        <p:spPr bwMode="auto">
          <a:xfrm>
            <a:off x="960120" y="259689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7B1FA2"/>
                </a:solidFill>
                <a:latin typeface="Calibri"/>
                <a:ea typeface="Calibri"/>
                <a:cs typeface="Calibri"/>
              </a:rPr>
              <a:t>Small Scale</a:t>
            </a:r>
            <a:endParaRPr lang="en-US" sz="1300"/>
          </a:p>
        </p:txBody>
      </p:sp>
      <p:sp>
        <p:nvSpPr>
          <p:cNvPr id="564140242" name="Text 14"/>
          <p:cNvSpPr/>
          <p:nvPr/>
        </p:nvSpPr>
        <p:spPr bwMode="auto">
          <a:xfrm>
            <a:off x="3337560" y="2596896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Not designed for large national elections; limited to small groups</a:t>
            </a:r>
            <a:endParaRPr lang="en-US" sz="1200"/>
          </a:p>
        </p:txBody>
      </p:sp>
      <p:sp>
        <p:nvSpPr>
          <p:cNvPr id="1895152902" name="Shape 15"/>
          <p:cNvSpPr/>
          <p:nvPr/>
        </p:nvSpPr>
        <p:spPr bwMode="auto">
          <a:xfrm>
            <a:off x="274320" y="3346704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0845771" name="Shape 16"/>
          <p:cNvSpPr/>
          <p:nvPr/>
        </p:nvSpPr>
        <p:spPr bwMode="auto">
          <a:xfrm>
            <a:off x="274320" y="3346704"/>
            <a:ext cx="10972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30373801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75488" y="3502152"/>
            <a:ext cx="329184" cy="329184"/>
          </a:xfrm>
          <a:prstGeom prst="rect">
            <a:avLst/>
          </a:prstGeom>
        </p:spPr>
      </p:pic>
      <p:sp>
        <p:nvSpPr>
          <p:cNvPr id="2066813206" name="Text 17"/>
          <p:cNvSpPr/>
          <p:nvPr/>
        </p:nvSpPr>
        <p:spPr bwMode="auto">
          <a:xfrm>
            <a:off x="960120" y="334670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No Remote Access</a:t>
            </a:r>
            <a:endParaRPr lang="en-US" sz="1300"/>
          </a:p>
        </p:txBody>
      </p:sp>
      <p:sp>
        <p:nvSpPr>
          <p:cNvPr id="1540590684" name="Text 18"/>
          <p:cNvSpPr/>
          <p:nvPr/>
        </p:nvSpPr>
        <p:spPr bwMode="auto">
          <a:xfrm>
            <a:off x="3337560" y="3346704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Voters must be physically present; no online or remote voting option</a:t>
            </a:r>
            <a:endParaRPr lang="en-US" sz="1200"/>
          </a:p>
        </p:txBody>
      </p:sp>
      <p:sp>
        <p:nvSpPr>
          <p:cNvPr id="426385615" name="Shape 19"/>
          <p:cNvSpPr/>
          <p:nvPr/>
        </p:nvSpPr>
        <p:spPr bwMode="auto">
          <a:xfrm>
            <a:off x="274320" y="4096512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14383976" name="Shape 20"/>
          <p:cNvSpPr/>
          <p:nvPr/>
        </p:nvSpPr>
        <p:spPr bwMode="auto">
          <a:xfrm>
            <a:off x="274320" y="4096512"/>
            <a:ext cx="109728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85232180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75488" y="4251960"/>
            <a:ext cx="329184" cy="329184"/>
          </a:xfrm>
          <a:prstGeom prst="rect">
            <a:avLst/>
          </a:prstGeom>
        </p:spPr>
      </p:pic>
      <p:sp>
        <p:nvSpPr>
          <p:cNvPr id="223214997" name="Text 21"/>
          <p:cNvSpPr/>
          <p:nvPr/>
        </p:nvSpPr>
        <p:spPr bwMode="auto">
          <a:xfrm>
            <a:off x="960120" y="4096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897B"/>
                </a:solidFill>
                <a:latin typeface="Calibri"/>
                <a:ea typeface="Calibri"/>
                <a:cs typeface="Calibri"/>
              </a:rPr>
              <a:t>Input Dependent</a:t>
            </a:r>
            <a:endParaRPr lang="en-US" sz="1300"/>
          </a:p>
        </p:txBody>
      </p:sp>
      <p:sp>
        <p:nvSpPr>
          <p:cNvPr id="37525109" name="Text 22"/>
          <p:cNvSpPr/>
          <p:nvPr/>
        </p:nvSpPr>
        <p:spPr bwMode="auto">
          <a:xfrm>
            <a:off x="3337560" y="4096512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System relies on correct manual input; no input validation UI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516369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8381270" name="Text 1"/>
          <p:cNvSpPr/>
          <p:nvPr/>
        </p:nvSpPr>
        <p:spPr bwMode="auto"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1400"/>
          </a:p>
        </p:txBody>
      </p:sp>
      <p:sp>
        <p:nvSpPr>
          <p:cNvPr id="1688540863" name="Shape 2"/>
          <p:cNvSpPr/>
          <p:nvPr/>
        </p:nvSpPr>
        <p:spPr bwMode="auto">
          <a:xfrm>
            <a:off x="274320" y="685800"/>
            <a:ext cx="8595360" cy="68580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83514833" name="Shape 3"/>
          <p:cNvSpPr/>
          <p:nvPr/>
        </p:nvSpPr>
        <p:spPr bwMode="auto">
          <a:xfrm>
            <a:off x="274320" y="685800"/>
            <a:ext cx="54864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9674710" name="Text 4"/>
          <p:cNvSpPr/>
          <p:nvPr/>
        </p:nvSpPr>
        <p:spPr bwMode="auto">
          <a:xfrm>
            <a:off x="274320" y="6858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300"/>
          </a:p>
        </p:txBody>
      </p:sp>
      <p:sp>
        <p:nvSpPr>
          <p:cNvPr id="1322196910" name="Text 5"/>
          <p:cNvSpPr/>
          <p:nvPr/>
        </p:nvSpPr>
        <p:spPr bwMode="auto">
          <a:xfrm>
            <a:off x="960120" y="685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GeeksforGeeks</a:t>
            </a:r>
            <a:endParaRPr lang="en-US" sz="1300"/>
          </a:p>
        </p:txBody>
      </p:sp>
      <p:sp>
        <p:nvSpPr>
          <p:cNvPr id="621879834" name="Text 6"/>
          <p:cNvSpPr/>
          <p:nvPr/>
        </p:nvSpPr>
        <p:spPr bwMode="auto">
          <a:xfrm>
            <a:off x="4251960" y="6858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Programming concepts, Python, SQL tutorials</a:t>
            </a:r>
            <a:endParaRPr lang="en-US" sz="1200"/>
          </a:p>
        </p:txBody>
      </p:sp>
      <p:sp>
        <p:nvSpPr>
          <p:cNvPr id="1478652068" name="Shape 7"/>
          <p:cNvSpPr/>
          <p:nvPr/>
        </p:nvSpPr>
        <p:spPr bwMode="auto">
          <a:xfrm>
            <a:off x="274320" y="1508759"/>
            <a:ext cx="8595360" cy="68580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00455246" name="Shape 8"/>
          <p:cNvSpPr/>
          <p:nvPr/>
        </p:nvSpPr>
        <p:spPr bwMode="auto">
          <a:xfrm>
            <a:off x="274320" y="1508759"/>
            <a:ext cx="54864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07048950" name="Text 9"/>
          <p:cNvSpPr/>
          <p:nvPr/>
        </p:nvSpPr>
        <p:spPr bwMode="auto">
          <a:xfrm>
            <a:off x="274320" y="1508759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300"/>
          </a:p>
        </p:txBody>
      </p:sp>
      <p:sp>
        <p:nvSpPr>
          <p:cNvPr id="2077629785" name="Text 10"/>
          <p:cNvSpPr/>
          <p:nvPr/>
        </p:nvSpPr>
        <p:spPr bwMode="auto">
          <a:xfrm>
            <a:off x="960120" y="1508759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Physics Wallah</a:t>
            </a:r>
            <a:endParaRPr lang="en-US" sz="1300"/>
          </a:p>
        </p:txBody>
      </p:sp>
      <p:sp>
        <p:nvSpPr>
          <p:cNvPr id="942755145" name="Text 11"/>
          <p:cNvSpPr/>
          <p:nvPr/>
        </p:nvSpPr>
        <p:spPr bwMode="auto">
          <a:xfrm>
            <a:off x="4251960" y="1508759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 &amp; Python video tutorials</a:t>
            </a:r>
            <a:endParaRPr lang="en-US" sz="1200"/>
          </a:p>
        </p:txBody>
      </p:sp>
      <p:sp>
        <p:nvSpPr>
          <p:cNvPr id="1051768259" name="Shape 12"/>
          <p:cNvSpPr/>
          <p:nvPr/>
        </p:nvSpPr>
        <p:spPr bwMode="auto">
          <a:xfrm>
            <a:off x="274320" y="2331720"/>
            <a:ext cx="8595360" cy="68580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57861201" name="Shape 13"/>
          <p:cNvSpPr/>
          <p:nvPr/>
        </p:nvSpPr>
        <p:spPr bwMode="auto">
          <a:xfrm>
            <a:off x="274320" y="2331720"/>
            <a:ext cx="54864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20639106" name="Text 14"/>
          <p:cNvSpPr/>
          <p:nvPr/>
        </p:nvSpPr>
        <p:spPr bwMode="auto">
          <a:xfrm>
            <a:off x="274320" y="23317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300"/>
          </a:p>
        </p:txBody>
      </p:sp>
      <p:sp>
        <p:nvSpPr>
          <p:cNvPr id="1585460030" name="Text 15"/>
          <p:cNvSpPr/>
          <p:nvPr/>
        </p:nvSpPr>
        <p:spPr bwMode="auto">
          <a:xfrm>
            <a:off x="960120" y="23317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Python Documentation</a:t>
            </a:r>
            <a:endParaRPr lang="en-US" sz="1300"/>
          </a:p>
        </p:txBody>
      </p:sp>
      <p:sp>
        <p:nvSpPr>
          <p:cNvPr id="1799138610" name="Text 16"/>
          <p:cNvSpPr/>
          <p:nvPr/>
        </p:nvSpPr>
        <p:spPr bwMode="auto">
          <a:xfrm>
            <a:off x="4251960" y="23317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Official Python 3 language reference</a:t>
            </a:r>
            <a:endParaRPr lang="en-US" sz="1200"/>
          </a:p>
        </p:txBody>
      </p:sp>
      <p:sp>
        <p:nvSpPr>
          <p:cNvPr id="200446604" name="Shape 17"/>
          <p:cNvSpPr/>
          <p:nvPr/>
        </p:nvSpPr>
        <p:spPr bwMode="auto">
          <a:xfrm>
            <a:off x="274320" y="3154680"/>
            <a:ext cx="8595360" cy="68580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68761779" name="Shape 18"/>
          <p:cNvSpPr/>
          <p:nvPr/>
        </p:nvSpPr>
        <p:spPr bwMode="auto">
          <a:xfrm>
            <a:off x="274320" y="3154680"/>
            <a:ext cx="54864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0741317" name="Text 19"/>
          <p:cNvSpPr/>
          <p:nvPr/>
        </p:nvSpPr>
        <p:spPr bwMode="auto">
          <a:xfrm>
            <a:off x="274320" y="31546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300"/>
          </a:p>
        </p:txBody>
      </p:sp>
      <p:sp>
        <p:nvSpPr>
          <p:cNvPr id="1774927530" name="Text 20"/>
          <p:cNvSpPr/>
          <p:nvPr/>
        </p:nvSpPr>
        <p:spPr bwMode="auto">
          <a:xfrm>
            <a:off x="960120" y="3154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SQLite Documentation</a:t>
            </a:r>
            <a:endParaRPr lang="en-US" sz="1300"/>
          </a:p>
        </p:txBody>
      </p:sp>
      <p:sp>
        <p:nvSpPr>
          <p:cNvPr id="1212414290" name="Text 21"/>
          <p:cNvSpPr/>
          <p:nvPr/>
        </p:nvSpPr>
        <p:spPr bwMode="auto">
          <a:xfrm>
            <a:off x="4251960" y="31546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SQLite database system reference</a:t>
            </a:r>
            <a:endParaRPr lang="en-US" sz="1200"/>
          </a:p>
        </p:txBody>
      </p:sp>
      <p:sp>
        <p:nvSpPr>
          <p:cNvPr id="2062844577" name="Shape 22"/>
          <p:cNvSpPr/>
          <p:nvPr/>
        </p:nvSpPr>
        <p:spPr bwMode="auto">
          <a:xfrm>
            <a:off x="274320" y="3977640"/>
            <a:ext cx="8595360" cy="68580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108851086" name="Shape 23"/>
          <p:cNvSpPr/>
          <p:nvPr/>
        </p:nvSpPr>
        <p:spPr bwMode="auto">
          <a:xfrm>
            <a:off x="274320" y="3977640"/>
            <a:ext cx="54864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9373744" name="Text 24"/>
          <p:cNvSpPr/>
          <p:nvPr/>
        </p:nvSpPr>
        <p:spPr bwMode="auto">
          <a:xfrm>
            <a:off x="274320" y="39776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300"/>
          </a:p>
        </p:txBody>
      </p:sp>
      <p:sp>
        <p:nvSpPr>
          <p:cNvPr id="574046717" name="Text 25"/>
          <p:cNvSpPr/>
          <p:nvPr/>
        </p:nvSpPr>
        <p:spPr bwMode="auto">
          <a:xfrm>
            <a:off x="960120" y="39776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Flaticon</a:t>
            </a:r>
            <a:endParaRPr lang="en-US" sz="1300"/>
          </a:p>
        </p:txBody>
      </p:sp>
      <p:sp>
        <p:nvSpPr>
          <p:cNvPr id="28974090" name="Text 26"/>
          <p:cNvSpPr/>
          <p:nvPr/>
        </p:nvSpPr>
        <p:spPr bwMode="auto">
          <a:xfrm>
            <a:off x="4251960" y="39776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Icons used in the presentation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105122" name="Shape 0"/>
          <p:cNvSpPr/>
          <p:nvPr/>
        </p:nvSpPr>
        <p:spPr bwMode="auto">
          <a:xfrm>
            <a:off x="0" y="0"/>
            <a:ext cx="9144000" cy="1645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2663374" name="Shape 1"/>
          <p:cNvSpPr/>
          <p:nvPr/>
        </p:nvSpPr>
        <p:spPr bwMode="auto">
          <a:xfrm>
            <a:off x="0" y="4978908"/>
            <a:ext cx="9144000" cy="1645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50519661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1358813495" name="Text 2"/>
          <p:cNvSpPr/>
          <p:nvPr/>
        </p:nvSpPr>
        <p:spPr bwMode="auto">
          <a:xfrm>
            <a:off x="457200" y="2148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5200" b="1" spc="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 sz="5200"/>
          </a:p>
        </p:txBody>
      </p:sp>
      <p:sp>
        <p:nvSpPr>
          <p:cNvPr id="2018906488" name="Text 3"/>
          <p:cNvSpPr/>
          <p:nvPr/>
        </p:nvSpPr>
        <p:spPr bwMode="auto"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i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lang="en-US" sz="1800"/>
          </a:p>
        </p:txBody>
      </p:sp>
      <p:sp>
        <p:nvSpPr>
          <p:cNvPr id="556000326" name="Shape 4"/>
          <p:cNvSpPr/>
          <p:nvPr/>
        </p:nvSpPr>
        <p:spPr bwMode="auto">
          <a:xfrm>
            <a:off x="3200400" y="3657600"/>
            <a:ext cx="27432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22373127" name="Text 5"/>
          <p:cNvSpPr/>
          <p:nvPr/>
        </p:nvSpPr>
        <p:spPr bwMode="auto"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Chandrashekhar Yadav  |  Roll No: 23134501017  |  HNBGU CSE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 Voting Machine</dc:title>
  <dc:subject>PptxGenJS Presentation</dc:subject>
  <dc:creator>PptxGenJS</dc:creator>
  <cp:lastModifiedBy/>
  <cp:revision>3</cp:revision>
  <dcterms:created xsi:type="dcterms:W3CDTF">2026-04-18T03:41:12Z</dcterms:created>
  <dcterms:modified xsi:type="dcterms:W3CDTF">2026-04-23T04:43:41Z</dcterms:modified>
</cp:coreProperties>
</file>